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Alegreya" panose="020B0604020202020204" charset="0"/>
      <p:regular r:id="rId13"/>
    </p:embeddedFont>
    <p:embeddedFont>
      <p:font typeface="Alegreya Bold" panose="020B0604020202020204" charset="0"/>
      <p:regular r:id="rId14"/>
    </p:embeddedFont>
    <p:embeddedFont>
      <p:font typeface="Alegreya SemiBold" panose="020B0604020202020204" charset="0"/>
      <p:regular r:id="rId15"/>
    </p:embeddedFont>
    <p:embeddedFont>
      <p:font typeface="Jost" panose="020B0604020202020204" charset="0"/>
      <p:regular r:id="rId16"/>
    </p:embeddedFont>
    <p:embeddedFont>
      <p:font typeface="Jost Medium" panose="020B0604020202020204" charset="0"/>
      <p:regular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054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complete application rather than a collection of isolated exercises. The system brings clinic records, scheduling, prescriptions, and reporting into one classroom-sized healthcare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the application addresses: clinic information is easier to manage when patients, doctors, visits, prescriptions, and history belong to one connected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objectives as the system's four jobs: maintain the people, coordinate visits, handle prescriptions safely, and demonstrate the programming techniques taught in the course.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system honestly. It reduces repetitive work and improves structure, but it still depends on careful users, local setup, backups, and a deliberately limited desktop or console scope.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from the current boundary to the next horizon: a richer interface, durable shared data, connected clinical services, and stronger protection for sensitive healthcare information.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development sequence. The project begins with requirements and algorithms, becomes a set of domain classes, grows through Java features, and is only complete after realistic and malformed-input scenarios are tested.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assessment language to visible project behavior. Every course outcome is explicit, and each one can be pointed to in the application's menus, model, storage, search, validation, or reporting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modules as a progression. Early topics create control and structure; object-oriented programming models the clinic; file handling persists it; collections and streams make the records searchable and reportable.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one continuous path rather than isolated screens. Start with a patient, connect the doctor and appointment, record the consultation and prescription, persist the file, retrieve the history, and finish with a stream-based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central claim: the project is both a functioning clinic manager and a demonstration of the course. Its local design is intentionally a foundation for future database, security, and healthcare integration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3B94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20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B7D8E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7C8A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B4DFC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5DA7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783" y="736600"/>
            <a:ext cx="7238819" cy="4996160"/>
          </a:xfrm>
          <a:prstGeom prst="roundRect">
            <a:avLst>
              <a:gd name="adj" fmla="val 610"/>
            </a:avLst>
          </a:prstGeom>
          <a:solidFill>
            <a:srgbClr val="FFFCF5"/>
          </a:solidFill>
          <a:ln/>
        </p:spPr>
      </p:sp>
      <p:sp>
        <p:nvSpPr>
          <p:cNvPr id="3" name="Text 1"/>
          <p:cNvSpPr/>
          <p:nvPr/>
        </p:nvSpPr>
        <p:spPr>
          <a:xfrm>
            <a:off x="1117572" y="1102519"/>
            <a:ext cx="6984825"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1D1E1B"/>
                </a:solidFill>
                <a:latin typeface="Jost Medium" pitchFamily="34" charset="0"/>
                <a:ea typeface="Jost Medium" pitchFamily="34" charset="-122"/>
                <a:cs typeface="Jost Medium" pitchFamily="34" charset="-120"/>
              </a:rPr>
              <a:t>JAVA · OBJECT-ORIENTED PROGRAMMING PROJECT</a:t>
            </a:r>
            <a:endParaRPr lang="en-US" sz="1300" dirty="0"/>
          </a:p>
        </p:txBody>
      </p:sp>
      <p:sp>
        <p:nvSpPr>
          <p:cNvPr id="4" name="Text 2"/>
          <p:cNvSpPr/>
          <p:nvPr/>
        </p:nvSpPr>
        <p:spPr>
          <a:xfrm>
            <a:off x="1117572" y="1458913"/>
            <a:ext cx="6375241" cy="3251200"/>
          </a:xfrm>
          <a:prstGeom prst="rect">
            <a:avLst/>
          </a:prstGeom>
          <a:noFill/>
          <a:ln/>
        </p:spPr>
        <p:txBody>
          <a:bodyPr wrap="square" lIns="0" tIns="0" rIns="0" bIns="0" rtlCol="0" anchor="t">
            <a:normAutofit fontScale="92500"/>
          </a:bodyPr>
          <a:lstStyle/>
          <a:p>
            <a:pPr marL="0" indent="0" algn="l">
              <a:lnSpc>
                <a:spcPct val="83000"/>
              </a:lnSpc>
              <a:buNone/>
            </a:pPr>
            <a:r>
              <a:rPr lang="en-US" sz="6400" dirty="0"/>
              <a:t>CLINIC APPOINTMENT AND PRESCRIPTION MANAGER</a:t>
            </a:r>
          </a:p>
        </p:txBody>
      </p:sp>
      <p:sp>
        <p:nvSpPr>
          <p:cNvPr id="5" name="Shape 3"/>
          <p:cNvSpPr/>
          <p:nvPr/>
        </p:nvSpPr>
        <p:spPr>
          <a:xfrm>
            <a:off x="1117572" y="4786213"/>
            <a:ext cx="6375141" cy="12601"/>
          </a:xfrm>
          <a:prstGeom prst="roundRect">
            <a:avLst>
              <a:gd name="adj" fmla="val 49998"/>
            </a:avLst>
          </a:prstGeom>
          <a:solidFill>
            <a:srgbClr val="45423B"/>
          </a:solidFill>
          <a:ln/>
        </p:spPr>
      </p:sp>
      <p:sp>
        <p:nvSpPr>
          <p:cNvPr id="6" name="Text 4"/>
          <p:cNvSpPr/>
          <p:nvPr/>
        </p:nvSpPr>
        <p:spPr>
          <a:xfrm>
            <a:off x="1117572" y="4786213"/>
            <a:ext cx="6375241" cy="969268"/>
          </a:xfrm>
          <a:prstGeom prst="rect">
            <a:avLst/>
          </a:prstGeom>
          <a:noFill/>
          <a:ln/>
        </p:spPr>
        <p:txBody>
          <a:bodyPr wrap="none" lIns="0" tIns="0" rIns="0" bIns="126997" rtlCol="0" anchor="t"/>
          <a:lstStyle/>
          <a:p>
            <a:pPr marL="0" indent="0" algn="l">
              <a:lnSpc>
                <a:spcPct val="100000"/>
              </a:lnSpc>
              <a:buNone/>
            </a:pPr>
            <a:r>
              <a:rPr lang="en-US" i="1" dirty="0">
                <a:solidFill>
                  <a:srgbClr val="1D1E1B"/>
                </a:solidFill>
                <a:latin typeface="Alegreya" pitchFamily="34" charset="0"/>
                <a:ea typeface="Alegreya" pitchFamily="34" charset="-122"/>
                <a:cs typeface="Alegreya" pitchFamily="34" charset="-120"/>
              </a:rPr>
              <a:t>A practical healthcare workflow built from core java</a:t>
            </a:r>
          </a:p>
          <a:p>
            <a:pPr marL="0" indent="0" algn="l">
              <a:lnSpc>
                <a:spcPct val="100000"/>
              </a:lnSpc>
              <a:buNone/>
            </a:pPr>
            <a:r>
              <a:rPr lang="en-US" i="1" dirty="0">
                <a:solidFill>
                  <a:srgbClr val="1D1E1B"/>
                </a:solidFill>
                <a:latin typeface="Alegreya" pitchFamily="34" charset="0"/>
              </a:rPr>
              <a:t>Team members : </a:t>
            </a:r>
            <a:r>
              <a:rPr lang="en-US" i="1" dirty="0" err="1">
                <a:solidFill>
                  <a:srgbClr val="1D1E1B"/>
                </a:solidFill>
                <a:latin typeface="Alegreya" pitchFamily="34" charset="0"/>
              </a:rPr>
              <a:t>P.Tholisri</a:t>
            </a:r>
            <a:r>
              <a:rPr lang="en-US" i="1" dirty="0">
                <a:solidFill>
                  <a:srgbClr val="1D1E1B"/>
                </a:solidFill>
                <a:latin typeface="Alegreya" pitchFamily="34" charset="0"/>
              </a:rPr>
              <a:t>  (2620030678)</a:t>
            </a:r>
          </a:p>
          <a:p>
            <a:pPr marL="0" indent="0" algn="l">
              <a:lnSpc>
                <a:spcPct val="100000"/>
              </a:lnSpc>
              <a:buNone/>
            </a:pPr>
            <a:r>
              <a:rPr lang="en-US" i="1" dirty="0">
                <a:solidFill>
                  <a:srgbClr val="1D1E1B"/>
                </a:solidFill>
                <a:latin typeface="Alegreya" pitchFamily="34" charset="0"/>
              </a:rPr>
              <a:t>                                    </a:t>
            </a:r>
            <a:r>
              <a:rPr lang="en-US" i="1" dirty="0" err="1">
                <a:solidFill>
                  <a:srgbClr val="1D1E1B"/>
                </a:solidFill>
                <a:latin typeface="Alegreya" pitchFamily="34" charset="0"/>
              </a:rPr>
              <a:t>P.Tanusree</a:t>
            </a:r>
            <a:r>
              <a:rPr lang="en-US" i="1" dirty="0">
                <a:solidFill>
                  <a:srgbClr val="1D1E1B"/>
                </a:solidFill>
                <a:latin typeface="Alegreya" pitchFamily="34" charset="0"/>
              </a:rPr>
              <a:t>  (2620030047</a:t>
            </a:r>
            <a:r>
              <a:rPr lang="en-US" sz="2200" i="1" dirty="0">
                <a:solidFill>
                  <a:srgbClr val="1D1E1B"/>
                </a:solidFill>
                <a:latin typeface="Alegreya" pitchFamily="34" charset="0"/>
              </a:rPr>
              <a:t>)</a:t>
            </a:r>
            <a:endParaRPr lang="en-US" sz="2200" dirty="0"/>
          </a:p>
        </p:txBody>
      </p:sp>
      <p:pic>
        <p:nvPicPr>
          <p:cNvPr id="8" name="Picture 7">
            <a:extLst>
              <a:ext uri="{FF2B5EF4-FFF2-40B4-BE49-F238E27FC236}">
                <a16:creationId xmlns:a16="http://schemas.microsoft.com/office/drawing/2014/main" id="{B870988D-1B97-2AD0-1D00-85CCC4211B63}"/>
              </a:ext>
            </a:extLst>
          </p:cNvPr>
          <p:cNvPicPr>
            <a:picLocks noChangeAspect="1"/>
          </p:cNvPicPr>
          <p:nvPr/>
        </p:nvPicPr>
        <p:blipFill>
          <a:blip r:embed="rId3"/>
          <a:stretch>
            <a:fillRect/>
          </a:stretch>
        </p:blipFill>
        <p:spPr>
          <a:xfrm>
            <a:off x="9529482" y="0"/>
            <a:ext cx="2662518" cy="1792941"/>
          </a:xfrm>
          <a:prstGeom prst="rect">
            <a:avLst/>
          </a:prstGeom>
        </p:spPr>
      </p:pic>
      <p:sp>
        <p:nvSpPr>
          <p:cNvPr id="9" name="Rectangle 8"/>
          <p:cNvSpPr/>
          <p:nvPr/>
        </p:nvSpPr>
        <p:spPr>
          <a:xfrm>
            <a:off x="11201400" y="6547104"/>
            <a:ext cx="987552" cy="310896"/>
          </a:xfrm>
          <a:prstGeom prst="rect">
            <a:avLst/>
          </a:prstGeom>
          <a:solidFill>
            <a:srgbClr val="C49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0" y="6473952"/>
            <a:ext cx="1216152" cy="384048"/>
          </a:xfrm>
          <a:prstGeom prst="rect">
            <a:avLst/>
          </a:prstGeom>
          <a:solidFill>
            <a:srgbClr val="C49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58177"/>
            <a:ext cx="5821614"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Introduction</a:t>
            </a:r>
            <a:endParaRPr lang="en-US" sz="4400" dirty="0"/>
          </a:p>
        </p:txBody>
      </p:sp>
      <p:sp>
        <p:nvSpPr>
          <p:cNvPr id="3" name="Shape 1"/>
          <p:cNvSpPr/>
          <p:nvPr/>
        </p:nvSpPr>
        <p:spPr>
          <a:xfrm>
            <a:off x="609585" y="1350169"/>
            <a:ext cx="5821515" cy="12601"/>
          </a:xfrm>
          <a:prstGeom prst="roundRect">
            <a:avLst>
              <a:gd name="adj" fmla="val 49998"/>
            </a:avLst>
          </a:prstGeom>
          <a:solidFill>
            <a:srgbClr val="1D1E1B"/>
          </a:solidFill>
          <a:ln/>
        </p:spPr>
      </p:sp>
      <p:sp>
        <p:nvSpPr>
          <p:cNvPr id="4" name="Text 2"/>
          <p:cNvSpPr/>
          <p:nvPr/>
        </p:nvSpPr>
        <p:spPr>
          <a:xfrm>
            <a:off x="609585" y="1490285"/>
            <a:ext cx="5821614"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From manual registers to a searchable clinic workflow</a:t>
            </a:r>
            <a:endParaRPr lang="en-US" sz="2200" dirty="0"/>
          </a:p>
        </p:txBody>
      </p:sp>
      <p:sp>
        <p:nvSpPr>
          <p:cNvPr id="5" name="Text 3"/>
          <p:cNvSpPr/>
          <p:nvPr/>
        </p:nvSpPr>
        <p:spPr>
          <a:xfrm>
            <a:off x="609585" y="2087483"/>
            <a:ext cx="1737277" cy="1991221"/>
          </a:xfrm>
          <a:prstGeom prst="rect">
            <a:avLst/>
          </a:prstGeom>
          <a:noFill/>
          <a:ln/>
        </p:spPr>
        <p:txBody>
          <a:bodyPr wrap="square" lIns="0" tIns="0" rIns="0" bIns="0" rtlCol="0" anchor="t">
            <a:normAutofit/>
          </a:bodyPr>
          <a:lstStyle/>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120"/>
              </a:rPr>
              <a:t>One application.</a:t>
            </a:r>
            <a:r>
              <a:rPr lang="en-US" sz="1600" dirty="0">
                <a:solidFill>
                  <a:srgbClr val="2B2A26"/>
                </a:solidFill>
                <a:latin typeface="Alegreya" pitchFamily="34" charset="0"/>
                <a:ea typeface="Alegreya" pitchFamily="34" charset="-122"/>
                <a:cs typeface="Alegreya" pitchFamily="34" charset="-120"/>
              </a:rPr>
              <a:t> A Java application for managing patients, doctors, appointments, prescriptions, and medical history.</a:t>
            </a:r>
            <a:endParaRPr lang="en-US" sz="1600" dirty="0"/>
          </a:p>
        </p:txBody>
      </p:sp>
      <p:sp>
        <p:nvSpPr>
          <p:cNvPr id="6" name="Text 4"/>
          <p:cNvSpPr/>
          <p:nvPr/>
        </p:nvSpPr>
        <p:spPr>
          <a:xfrm>
            <a:off x="2651654" y="2087483"/>
            <a:ext cx="1737376" cy="1991221"/>
          </a:xfrm>
          <a:prstGeom prst="rect">
            <a:avLst/>
          </a:prstGeom>
          <a:noFill/>
          <a:ln/>
        </p:spPr>
        <p:txBody>
          <a:bodyPr wrap="square" lIns="0" tIns="0" rIns="0" bIns="0" rtlCol="0" anchor="t">
            <a:normAutofit/>
          </a:bodyPr>
          <a:lstStyle/>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120"/>
              </a:rPr>
              <a:t>One structured record.</a:t>
            </a:r>
            <a:r>
              <a:rPr lang="en-US" sz="1600" dirty="0">
                <a:solidFill>
                  <a:srgbClr val="2B2A26"/>
                </a:solidFill>
                <a:latin typeface="Alegreya" pitchFamily="34" charset="0"/>
                <a:ea typeface="Alegreya" pitchFamily="34" charset="-122"/>
                <a:cs typeface="Alegreya" pitchFamily="34" charset="-120"/>
              </a:rPr>
              <a:t> It replaces manual registers with a structured, searchable, and maintainable system.</a:t>
            </a:r>
            <a:endParaRPr lang="en-US" sz="1600" dirty="0"/>
          </a:p>
        </p:txBody>
      </p:sp>
      <p:sp>
        <p:nvSpPr>
          <p:cNvPr id="7" name="Text 5"/>
          <p:cNvSpPr/>
          <p:nvPr/>
        </p:nvSpPr>
        <p:spPr>
          <a:xfrm>
            <a:off x="4693822" y="2087483"/>
            <a:ext cx="1737277" cy="1991221"/>
          </a:xfrm>
          <a:prstGeom prst="rect">
            <a:avLst/>
          </a:prstGeom>
          <a:noFill/>
          <a:ln/>
        </p:spPr>
        <p:txBody>
          <a:bodyPr wrap="square" lIns="0" tIns="0" rIns="0" bIns="0" rtlCol="0" anchor="t">
            <a:normAutofit lnSpcReduction="10000"/>
          </a:bodyPr>
          <a:lstStyle/>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120"/>
              </a:rPr>
              <a:t>Six modules together.</a:t>
            </a:r>
            <a:r>
              <a:rPr lang="en-US" sz="1600" dirty="0">
                <a:solidFill>
                  <a:srgbClr val="2B2A26"/>
                </a:solidFill>
                <a:latin typeface="Alegreya" pitchFamily="34" charset="0"/>
                <a:ea typeface="Alegreya" pitchFamily="34" charset="-122"/>
                <a:cs typeface="Alegreya" pitchFamily="34" charset="-120"/>
              </a:rPr>
              <a:t> The project demonstrates how six course modules combine into one practical healthcare workflow.</a:t>
            </a:r>
            <a:endParaRPr lang="en-US" sz="1600" dirty="0"/>
          </a:p>
        </p:txBody>
      </p:sp>
      <p:pic>
        <p:nvPicPr>
          <p:cNvPr id="8" name="Image 0" descr="preencoded.png"/>
          <p:cNvPicPr>
            <a:picLocks noChangeAspect="1"/>
          </p:cNvPicPr>
          <p:nvPr/>
        </p:nvPicPr>
        <p:blipFill>
          <a:blip r:embed="rId3"/>
          <a:stretch>
            <a:fillRect/>
          </a:stretch>
        </p:blipFill>
        <p:spPr>
          <a:xfrm>
            <a:off x="8107457" y="1443038"/>
            <a:ext cx="2762181" cy="3683000"/>
          </a:xfrm>
          <a:prstGeom prst="rect">
            <a:avLst/>
          </a:prstGeom>
        </p:spPr>
      </p:pic>
      <p:sp>
        <p:nvSpPr>
          <p:cNvPr id="9" name="Text 6"/>
          <p:cNvSpPr/>
          <p:nvPr/>
        </p:nvSpPr>
        <p:spPr>
          <a:xfrm>
            <a:off x="8107457" y="5209381"/>
            <a:ext cx="4084238" cy="206375"/>
          </a:xfrm>
          <a:prstGeom prst="rect">
            <a:avLst/>
          </a:prstGeom>
          <a:noFill/>
          <a:ln/>
        </p:spPr>
        <p:txBody>
          <a:bodyPr wrap="none" lIns="0" tIns="0" rIns="0" bIns="0" rtlCol="0" anchor="t"/>
          <a:lstStyle/>
          <a:p>
            <a:pPr marL="0" indent="0" algn="l">
              <a:lnSpc>
                <a:spcPct val="108000"/>
              </a:lnSpc>
              <a:buNone/>
            </a:pPr>
            <a:r>
              <a:rPr lang="en-US" sz="1250" i="1" dirty="0">
                <a:solidFill>
                  <a:srgbClr val="45423B"/>
                </a:solidFill>
                <a:latin typeface="Alegreya" pitchFamily="34" charset="0"/>
                <a:ea typeface="Alegreya" pitchFamily="34" charset="-122"/>
                <a:cs typeface="Alegreya" pitchFamily="34" charset="-120"/>
              </a:rPr>
              <a:t>fig. 1 — the records that meet in one workflow</a:t>
            </a:r>
            <a:endParaRPr lang="en-US" sz="1250" dirty="0"/>
          </a:p>
        </p:txBody>
      </p:sp>
      <p:sp>
        <p:nvSpPr>
          <p:cNvPr id="10" name="Rectangle 9"/>
          <p:cNvSpPr/>
          <p:nvPr/>
        </p:nvSpPr>
        <p:spPr>
          <a:xfrm>
            <a:off x="11201400" y="6547104"/>
            <a:ext cx="987552" cy="310896"/>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0" y="6473952"/>
            <a:ext cx="1216152" cy="384048"/>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58177"/>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Project main objectives</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Four capabilities make the project useful</a:t>
            </a:r>
            <a:endParaRPr lang="en-US" sz="2200" dirty="0"/>
          </a:p>
        </p:txBody>
      </p:sp>
      <p:sp>
        <p:nvSpPr>
          <p:cNvPr id="5" name="Shape 3"/>
          <p:cNvSpPr/>
          <p:nvPr/>
        </p:nvSpPr>
        <p:spPr>
          <a:xfrm>
            <a:off x="609585" y="2391966"/>
            <a:ext cx="5410065" cy="1736030"/>
          </a:xfrm>
          <a:prstGeom prst="roundRect">
            <a:avLst>
              <a:gd name="adj" fmla="val 658"/>
            </a:avLst>
          </a:prstGeom>
          <a:solidFill>
            <a:srgbClr val="F2B889"/>
          </a:solidFill>
          <a:ln/>
        </p:spPr>
      </p:sp>
      <p:sp>
        <p:nvSpPr>
          <p:cNvPr id="6" name="Text 4"/>
          <p:cNvSpPr/>
          <p:nvPr/>
        </p:nvSpPr>
        <p:spPr>
          <a:xfrm>
            <a:off x="838179" y="2935290"/>
            <a:ext cx="4952876"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Manage people</a:t>
            </a:r>
            <a:endParaRPr lang="en-US" sz="1700" dirty="0"/>
          </a:p>
        </p:txBody>
      </p:sp>
      <p:sp>
        <p:nvSpPr>
          <p:cNvPr id="7" name="Text 5"/>
          <p:cNvSpPr/>
          <p:nvPr/>
        </p:nvSpPr>
        <p:spPr>
          <a:xfrm>
            <a:off x="838179" y="3330793"/>
            <a:ext cx="5181470"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Register and manage patient and doctor information.</a:t>
            </a:r>
            <a:endParaRPr lang="en-US" sz="1600" dirty="0"/>
          </a:p>
        </p:txBody>
      </p:sp>
      <p:sp>
        <p:nvSpPr>
          <p:cNvPr id="8" name="Shape 6"/>
          <p:cNvSpPr/>
          <p:nvPr/>
        </p:nvSpPr>
        <p:spPr>
          <a:xfrm>
            <a:off x="6172046" y="2391966"/>
            <a:ext cx="5410065" cy="1736030"/>
          </a:xfrm>
          <a:prstGeom prst="roundRect">
            <a:avLst>
              <a:gd name="adj" fmla="val 658"/>
            </a:avLst>
          </a:prstGeom>
          <a:solidFill>
            <a:srgbClr val="F2B889"/>
          </a:solidFill>
          <a:ln/>
        </p:spPr>
      </p:sp>
      <p:sp>
        <p:nvSpPr>
          <p:cNvPr id="9" name="Text 7"/>
          <p:cNvSpPr/>
          <p:nvPr/>
        </p:nvSpPr>
        <p:spPr>
          <a:xfrm>
            <a:off x="6400640" y="2935290"/>
            <a:ext cx="4952876"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Coordinate visits</a:t>
            </a:r>
            <a:endParaRPr lang="en-US" sz="1700" dirty="0"/>
          </a:p>
        </p:txBody>
      </p:sp>
      <p:sp>
        <p:nvSpPr>
          <p:cNvPr id="10" name="Text 8"/>
          <p:cNvSpPr/>
          <p:nvPr/>
        </p:nvSpPr>
        <p:spPr>
          <a:xfrm>
            <a:off x="6400640" y="3330793"/>
            <a:ext cx="5181470"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Book, reschedule, cancel, and search appointments.</a:t>
            </a:r>
            <a:endParaRPr lang="en-US" sz="1600" dirty="0"/>
          </a:p>
        </p:txBody>
      </p:sp>
      <p:sp>
        <p:nvSpPr>
          <p:cNvPr id="11" name="Shape 9"/>
          <p:cNvSpPr/>
          <p:nvPr/>
        </p:nvSpPr>
        <p:spPr>
          <a:xfrm>
            <a:off x="609585" y="4585196"/>
            <a:ext cx="5410065" cy="1736030"/>
          </a:xfrm>
          <a:prstGeom prst="roundRect">
            <a:avLst>
              <a:gd name="adj" fmla="val 658"/>
            </a:avLst>
          </a:prstGeom>
          <a:solidFill>
            <a:srgbClr val="F2B889"/>
          </a:solidFill>
          <a:ln/>
        </p:spPr>
      </p:sp>
      <p:sp>
        <p:nvSpPr>
          <p:cNvPr id="12" name="Text 10"/>
          <p:cNvSpPr/>
          <p:nvPr/>
        </p:nvSpPr>
        <p:spPr>
          <a:xfrm>
            <a:off x="838179" y="5128521"/>
            <a:ext cx="4952876"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Protect prescriptions</a:t>
            </a:r>
            <a:endParaRPr lang="en-US" sz="1700" dirty="0"/>
          </a:p>
        </p:txBody>
      </p:sp>
      <p:sp>
        <p:nvSpPr>
          <p:cNvPr id="13" name="Text 11"/>
          <p:cNvSpPr/>
          <p:nvPr/>
        </p:nvSpPr>
        <p:spPr>
          <a:xfrm>
            <a:off x="838179" y="5524024"/>
            <a:ext cx="5181470"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Create, store, and retrieve prescriptions safely.</a:t>
            </a:r>
            <a:endParaRPr lang="en-US" sz="1600" dirty="0"/>
          </a:p>
        </p:txBody>
      </p:sp>
      <p:sp>
        <p:nvSpPr>
          <p:cNvPr id="14" name="Shape 12"/>
          <p:cNvSpPr/>
          <p:nvPr/>
        </p:nvSpPr>
        <p:spPr>
          <a:xfrm>
            <a:off x="6172046" y="4585196"/>
            <a:ext cx="5410065" cy="1736030"/>
          </a:xfrm>
          <a:prstGeom prst="roundRect">
            <a:avLst>
              <a:gd name="adj" fmla="val 658"/>
            </a:avLst>
          </a:prstGeom>
          <a:solidFill>
            <a:srgbClr val="F2B889"/>
          </a:solidFill>
          <a:ln/>
        </p:spPr>
      </p:sp>
      <p:sp>
        <p:nvSpPr>
          <p:cNvPr id="15" name="Text 13"/>
          <p:cNvSpPr/>
          <p:nvPr/>
        </p:nvSpPr>
        <p:spPr>
          <a:xfrm>
            <a:off x="6400640" y="5128521"/>
            <a:ext cx="4952876"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Apply the course</a:t>
            </a:r>
            <a:endParaRPr lang="en-US" sz="1700" dirty="0"/>
          </a:p>
        </p:txBody>
      </p:sp>
      <p:sp>
        <p:nvSpPr>
          <p:cNvPr id="16" name="Text 14"/>
          <p:cNvSpPr/>
          <p:nvPr/>
        </p:nvSpPr>
        <p:spPr>
          <a:xfrm>
            <a:off x="6400640" y="5524024"/>
            <a:ext cx="4952876"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Use Java fundamentals, OOP, file handling, collections, and streams.</a:t>
            </a:r>
            <a:endParaRPr lang="en-US" sz="1600" dirty="0"/>
          </a:p>
        </p:txBody>
      </p:sp>
      <p:sp>
        <p:nvSpPr>
          <p:cNvPr id="17" name="Shape 15"/>
          <p:cNvSpPr/>
          <p:nvPr/>
        </p:nvSpPr>
        <p:spPr>
          <a:xfrm>
            <a:off x="3009825" y="2087166"/>
            <a:ext cx="609585" cy="609600"/>
          </a:xfrm>
          <a:prstGeom prst="ellipse">
            <a:avLst/>
          </a:prstGeom>
          <a:solidFill>
            <a:srgbClr val="931A45"/>
          </a:solidFill>
          <a:ln w="12700">
            <a:solidFill>
              <a:srgbClr val="D89E6F"/>
            </a:solidFill>
            <a:prstDash val="solid"/>
          </a:ln>
        </p:spPr>
      </p:sp>
      <p:pic>
        <p:nvPicPr>
          <p:cNvPr id="18" name="Image 0" descr="preencoded.png"/>
          <p:cNvPicPr>
            <a:picLocks noChangeAspect="1"/>
          </p:cNvPicPr>
          <p:nvPr/>
        </p:nvPicPr>
        <p:blipFill>
          <a:blip r:embed="rId3"/>
          <a:stretch>
            <a:fillRect/>
          </a:stretch>
        </p:blipFill>
        <p:spPr>
          <a:xfrm>
            <a:off x="3174921" y="2252266"/>
            <a:ext cx="279393" cy="279400"/>
          </a:xfrm>
          <a:prstGeom prst="rect">
            <a:avLst/>
          </a:prstGeom>
        </p:spPr>
      </p:pic>
      <p:sp>
        <p:nvSpPr>
          <p:cNvPr id="19" name="Shape 16"/>
          <p:cNvSpPr/>
          <p:nvPr/>
        </p:nvSpPr>
        <p:spPr>
          <a:xfrm>
            <a:off x="8572286" y="2087166"/>
            <a:ext cx="609585" cy="609600"/>
          </a:xfrm>
          <a:prstGeom prst="ellipse">
            <a:avLst/>
          </a:prstGeom>
          <a:solidFill>
            <a:srgbClr val="931A45"/>
          </a:solidFill>
          <a:ln w="12700">
            <a:solidFill>
              <a:srgbClr val="D89E6F"/>
            </a:solidFill>
            <a:prstDash val="solid"/>
          </a:ln>
        </p:spPr>
      </p:sp>
      <p:pic>
        <p:nvPicPr>
          <p:cNvPr id="20" name="Image 1" descr="preencoded.png"/>
          <p:cNvPicPr>
            <a:picLocks noChangeAspect="1"/>
          </p:cNvPicPr>
          <p:nvPr/>
        </p:nvPicPr>
        <p:blipFill>
          <a:blip r:embed="rId4"/>
          <a:stretch>
            <a:fillRect/>
          </a:stretch>
        </p:blipFill>
        <p:spPr>
          <a:xfrm>
            <a:off x="8737381" y="2252266"/>
            <a:ext cx="279393" cy="279400"/>
          </a:xfrm>
          <a:prstGeom prst="rect">
            <a:avLst/>
          </a:prstGeom>
        </p:spPr>
      </p:pic>
      <p:sp>
        <p:nvSpPr>
          <p:cNvPr id="21" name="Shape 17"/>
          <p:cNvSpPr/>
          <p:nvPr/>
        </p:nvSpPr>
        <p:spPr>
          <a:xfrm>
            <a:off x="3009825" y="4280396"/>
            <a:ext cx="609585" cy="609600"/>
          </a:xfrm>
          <a:prstGeom prst="ellipse">
            <a:avLst/>
          </a:prstGeom>
          <a:solidFill>
            <a:srgbClr val="931A45"/>
          </a:solidFill>
          <a:ln w="12700">
            <a:solidFill>
              <a:srgbClr val="D89E6F"/>
            </a:solidFill>
            <a:prstDash val="solid"/>
          </a:ln>
        </p:spPr>
      </p:sp>
      <p:pic>
        <p:nvPicPr>
          <p:cNvPr id="22" name="Image 2" descr="preencoded.png"/>
          <p:cNvPicPr>
            <a:picLocks noChangeAspect="1"/>
          </p:cNvPicPr>
          <p:nvPr/>
        </p:nvPicPr>
        <p:blipFill>
          <a:blip r:embed="rId5"/>
          <a:stretch>
            <a:fillRect/>
          </a:stretch>
        </p:blipFill>
        <p:spPr>
          <a:xfrm>
            <a:off x="3174921" y="4445496"/>
            <a:ext cx="279393" cy="279400"/>
          </a:xfrm>
          <a:prstGeom prst="rect">
            <a:avLst/>
          </a:prstGeom>
        </p:spPr>
      </p:pic>
      <p:sp>
        <p:nvSpPr>
          <p:cNvPr id="23" name="Shape 18"/>
          <p:cNvSpPr/>
          <p:nvPr/>
        </p:nvSpPr>
        <p:spPr>
          <a:xfrm>
            <a:off x="8572286" y="4280396"/>
            <a:ext cx="609585" cy="609600"/>
          </a:xfrm>
          <a:prstGeom prst="ellipse">
            <a:avLst/>
          </a:prstGeom>
          <a:solidFill>
            <a:srgbClr val="931A45"/>
          </a:solidFill>
          <a:ln w="12700">
            <a:solidFill>
              <a:srgbClr val="D89E6F"/>
            </a:solidFill>
            <a:prstDash val="solid"/>
          </a:ln>
        </p:spPr>
      </p:sp>
      <p:pic>
        <p:nvPicPr>
          <p:cNvPr id="24" name="Image 3" descr="preencoded.png"/>
          <p:cNvPicPr>
            <a:picLocks noChangeAspect="1"/>
          </p:cNvPicPr>
          <p:nvPr/>
        </p:nvPicPr>
        <p:blipFill>
          <a:blip r:embed="rId6"/>
          <a:stretch>
            <a:fillRect/>
          </a:stretch>
        </p:blipFill>
        <p:spPr>
          <a:xfrm>
            <a:off x="8737381" y="4445496"/>
            <a:ext cx="279393" cy="279400"/>
          </a:xfrm>
          <a:prstGeom prst="rect">
            <a:avLst/>
          </a:prstGeom>
        </p:spPr>
      </p:pic>
      <p:sp>
        <p:nvSpPr>
          <p:cNvPr id="25" name="Rectangle 24"/>
          <p:cNvSpPr/>
          <p:nvPr/>
        </p:nvSpPr>
        <p:spPr>
          <a:xfrm>
            <a:off x="11201400" y="6547104"/>
            <a:ext cx="987552" cy="310896"/>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972800" y="6473952"/>
            <a:ext cx="1216152" cy="384048"/>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46748"/>
            <a:ext cx="6603835" cy="960041"/>
          </a:xfrm>
          <a:prstGeom prst="rect">
            <a:avLst/>
          </a:prstGeom>
          <a:noFill/>
          <a:ln/>
        </p:spPr>
        <p:txBody>
          <a:bodyPr wrap="square" lIns="0" tIns="0" rIns="0" bIns="0" rtlCol="0" anchor="t">
            <a:normAutofit lnSpcReduction="10000"/>
          </a:bodyPr>
          <a:lstStyle/>
          <a:p>
            <a:pPr marL="0" indent="0" algn="l">
              <a:lnSpc>
                <a:spcPct val="87000"/>
              </a:lnSpc>
              <a:buNone/>
            </a:pPr>
            <a:r>
              <a:rPr lang="en-US" sz="3600" kern="100" spc="-54" dirty="0">
                <a:solidFill>
                  <a:srgbClr val="1D1E1B"/>
                </a:solidFill>
                <a:latin typeface="Jost Medium" pitchFamily="34" charset="0"/>
                <a:ea typeface="Jost Medium" pitchFamily="34" charset="-122"/>
                <a:cs typeface="Jost Medium" pitchFamily="34" charset="-120"/>
              </a:rPr>
              <a:t>Advantages, disadvantages, and limitations</a:t>
            </a:r>
            <a:endParaRPr lang="en-US" sz="3600" dirty="0"/>
          </a:p>
        </p:txBody>
      </p:sp>
      <p:sp>
        <p:nvSpPr>
          <p:cNvPr id="3" name="Shape 1"/>
          <p:cNvSpPr/>
          <p:nvPr/>
        </p:nvSpPr>
        <p:spPr>
          <a:xfrm>
            <a:off x="609585" y="1723529"/>
            <a:ext cx="6603736" cy="12601"/>
          </a:xfrm>
          <a:prstGeom prst="roundRect">
            <a:avLst>
              <a:gd name="adj" fmla="val 49998"/>
            </a:avLst>
          </a:prstGeom>
          <a:solidFill>
            <a:srgbClr val="1D1E1B"/>
          </a:solidFill>
          <a:ln/>
        </p:spPr>
      </p:sp>
      <p:sp>
        <p:nvSpPr>
          <p:cNvPr id="4" name="Text 2"/>
          <p:cNvSpPr/>
          <p:nvPr/>
        </p:nvSpPr>
        <p:spPr>
          <a:xfrm>
            <a:off x="609585" y="1863646"/>
            <a:ext cx="6603835"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Useful by design, bounded by scope</a:t>
            </a:r>
            <a:endParaRPr lang="en-US" sz="2200" dirty="0"/>
          </a:p>
        </p:txBody>
      </p:sp>
      <p:sp>
        <p:nvSpPr>
          <p:cNvPr id="5" name="Shape 3"/>
          <p:cNvSpPr/>
          <p:nvPr/>
        </p:nvSpPr>
        <p:spPr>
          <a:xfrm>
            <a:off x="609585" y="2460526"/>
            <a:ext cx="3149521" cy="1791891"/>
          </a:xfrm>
          <a:prstGeom prst="rect">
            <a:avLst/>
          </a:prstGeom>
          <a:solidFill>
            <a:srgbClr val="FFFCF5"/>
          </a:solidFill>
          <a:ln/>
        </p:spPr>
      </p:sp>
      <p:sp>
        <p:nvSpPr>
          <p:cNvPr id="6" name="Text 4"/>
          <p:cNvSpPr/>
          <p:nvPr/>
        </p:nvSpPr>
        <p:spPr>
          <a:xfrm>
            <a:off x="711182" y="2572709"/>
            <a:ext cx="2743131" cy="304800"/>
          </a:xfrm>
          <a:prstGeom prst="rect">
            <a:avLst/>
          </a:prstGeom>
          <a:noFill/>
          <a:ln/>
        </p:spPr>
        <p:txBody>
          <a:bodyPr wrap="none" lIns="0" tIns="0" rIns="0" bIns="0" rtlCol="0" anchor="t"/>
          <a:lstStyle/>
          <a:p>
            <a:pPr marL="0" indent="0" algn="ctr">
              <a:lnSpc>
                <a:spcPct val="100000"/>
              </a:lnSpc>
              <a:buNone/>
            </a:pPr>
            <a:r>
              <a:rPr lang="en-US" sz="2000" b="1" i="1" dirty="0">
                <a:solidFill>
                  <a:srgbClr val="2B2A26"/>
                </a:solidFill>
                <a:latin typeface="Alegreya Bold" pitchFamily="34" charset="0"/>
                <a:ea typeface="Alegreya Bold" pitchFamily="34" charset="-122"/>
                <a:cs typeface="Alegreya Bold" pitchFamily="34" charset="-120"/>
              </a:rPr>
              <a:t>Advantages</a:t>
            </a:r>
            <a:endParaRPr lang="en-US" sz="2000" dirty="0"/>
          </a:p>
        </p:txBody>
      </p:sp>
      <p:sp>
        <p:nvSpPr>
          <p:cNvPr id="7" name="Text 5"/>
          <p:cNvSpPr/>
          <p:nvPr/>
        </p:nvSpPr>
        <p:spPr>
          <a:xfrm>
            <a:off x="812780" y="3013293"/>
            <a:ext cx="2743131" cy="1137841"/>
          </a:xfrm>
          <a:prstGeom prst="rect">
            <a:avLst/>
          </a:prstGeom>
          <a:noFill/>
          <a:ln/>
        </p:spPr>
        <p:txBody>
          <a:bodyPr wrap="square" lIns="0" tIns="0" rIns="0" bIns="0" rtlCol="0" anchor="t">
            <a:normAutofit/>
          </a:bodyPr>
          <a:lstStyle/>
          <a:p>
            <a:pPr marL="0" indent="0" algn="ctr">
              <a:lnSpc>
                <a:spcPct val="117000"/>
              </a:lnSpc>
              <a:buNone/>
            </a:pPr>
            <a:r>
              <a:rPr lang="en-US" sz="1600" dirty="0">
                <a:solidFill>
                  <a:srgbClr val="2B2A26"/>
                </a:solidFill>
                <a:latin typeface="Alegreya" pitchFamily="34" charset="0"/>
                <a:ea typeface="Alegreya" pitchFamily="34" charset="-122"/>
                <a:cs typeface="Alegreya" pitchFamily="34" charset="-120"/>
              </a:rPr>
              <a:t>Faster records, fewer duplicate entries, reusable classes, validation, search, and report generation.</a:t>
            </a:r>
            <a:endParaRPr lang="en-US" sz="1600" dirty="0"/>
          </a:p>
        </p:txBody>
      </p:sp>
      <p:sp>
        <p:nvSpPr>
          <p:cNvPr id="8" name="Shape 6"/>
          <p:cNvSpPr/>
          <p:nvPr/>
        </p:nvSpPr>
        <p:spPr>
          <a:xfrm>
            <a:off x="4063898" y="2460526"/>
            <a:ext cx="3149521" cy="1791891"/>
          </a:xfrm>
          <a:prstGeom prst="rect">
            <a:avLst/>
          </a:prstGeom>
          <a:solidFill>
            <a:srgbClr val="B4DFC2"/>
          </a:solidFill>
          <a:ln/>
        </p:spPr>
      </p:sp>
      <p:sp>
        <p:nvSpPr>
          <p:cNvPr id="9" name="Text 7"/>
          <p:cNvSpPr/>
          <p:nvPr/>
        </p:nvSpPr>
        <p:spPr>
          <a:xfrm>
            <a:off x="4165496" y="2572709"/>
            <a:ext cx="2743131" cy="304800"/>
          </a:xfrm>
          <a:prstGeom prst="rect">
            <a:avLst/>
          </a:prstGeom>
          <a:noFill/>
          <a:ln/>
        </p:spPr>
        <p:txBody>
          <a:bodyPr wrap="none" lIns="0" tIns="0" rIns="0" bIns="0" rtlCol="0" anchor="t"/>
          <a:lstStyle/>
          <a:p>
            <a:pPr marL="0" indent="0" algn="ctr">
              <a:lnSpc>
                <a:spcPct val="100000"/>
              </a:lnSpc>
              <a:buNone/>
            </a:pPr>
            <a:r>
              <a:rPr lang="en-US" sz="2000" b="1" i="1" dirty="0">
                <a:solidFill>
                  <a:srgbClr val="000000"/>
                </a:solidFill>
                <a:latin typeface="Alegreya Bold" pitchFamily="34" charset="0"/>
                <a:ea typeface="Alegreya Bold" pitchFamily="34" charset="-122"/>
                <a:cs typeface="Alegreya Bold" pitchFamily="34" charset="-120"/>
              </a:rPr>
              <a:t>Disadvantages</a:t>
            </a:r>
            <a:endParaRPr lang="en-US" sz="2000" dirty="0"/>
          </a:p>
        </p:txBody>
      </p:sp>
      <p:sp>
        <p:nvSpPr>
          <p:cNvPr id="10" name="Text 8"/>
          <p:cNvSpPr/>
          <p:nvPr/>
        </p:nvSpPr>
        <p:spPr>
          <a:xfrm>
            <a:off x="4267093" y="3013293"/>
            <a:ext cx="2743131" cy="853380"/>
          </a:xfrm>
          <a:prstGeom prst="rect">
            <a:avLst/>
          </a:prstGeom>
          <a:noFill/>
          <a:ln/>
        </p:spPr>
        <p:txBody>
          <a:bodyPr wrap="square" lIns="0" tIns="0" rIns="0" bIns="0" rtlCol="0" anchor="t">
            <a:normAutofit/>
          </a:bodyPr>
          <a:lstStyle/>
          <a:p>
            <a:pPr marL="0" indent="0" algn="ctr">
              <a:lnSpc>
                <a:spcPct val="117000"/>
              </a:lnSpc>
              <a:buNone/>
            </a:pPr>
            <a:r>
              <a:rPr lang="en-US" sz="1600" dirty="0">
                <a:solidFill>
                  <a:srgbClr val="000000"/>
                </a:solidFill>
                <a:latin typeface="Alegreya" pitchFamily="34" charset="0"/>
                <a:ea typeface="Alegreya" pitchFamily="34" charset="-122"/>
                <a:cs typeface="Alegreya" pitchFamily="34" charset="-120"/>
              </a:rPr>
              <a:t>Requires correct data entry, Java setup, user training, and regular backup.</a:t>
            </a:r>
            <a:endParaRPr lang="en-US" sz="1600" dirty="0"/>
          </a:p>
        </p:txBody>
      </p:sp>
      <p:sp>
        <p:nvSpPr>
          <p:cNvPr id="11" name="Shape 9"/>
          <p:cNvSpPr/>
          <p:nvPr/>
        </p:nvSpPr>
        <p:spPr>
          <a:xfrm>
            <a:off x="609585" y="4557216"/>
            <a:ext cx="6603835" cy="1222970"/>
          </a:xfrm>
          <a:prstGeom prst="rect">
            <a:avLst/>
          </a:prstGeom>
          <a:solidFill>
            <a:srgbClr val="FFFCF5"/>
          </a:solidFill>
          <a:ln/>
        </p:spPr>
      </p:sp>
      <p:sp>
        <p:nvSpPr>
          <p:cNvPr id="12" name="Text 10"/>
          <p:cNvSpPr/>
          <p:nvPr/>
        </p:nvSpPr>
        <p:spPr>
          <a:xfrm>
            <a:off x="-1015975" y="4669400"/>
            <a:ext cx="6197445" cy="304800"/>
          </a:xfrm>
          <a:prstGeom prst="rect">
            <a:avLst/>
          </a:prstGeom>
          <a:noFill/>
          <a:ln/>
        </p:spPr>
        <p:txBody>
          <a:bodyPr wrap="none" lIns="0" tIns="0" rIns="0" bIns="0" rtlCol="0" anchor="t"/>
          <a:lstStyle/>
          <a:p>
            <a:pPr marL="0" indent="0" algn="ctr">
              <a:lnSpc>
                <a:spcPct val="100000"/>
              </a:lnSpc>
              <a:buNone/>
            </a:pPr>
            <a:r>
              <a:rPr lang="en-US" sz="2000" b="1" i="1" dirty="0">
                <a:solidFill>
                  <a:srgbClr val="000000"/>
                </a:solidFill>
                <a:latin typeface="Alegreya Bold" pitchFamily="34" charset="0"/>
                <a:ea typeface="Alegreya Bold" pitchFamily="34" charset="-122"/>
                <a:cs typeface="Alegreya Bold" pitchFamily="34" charset="-120"/>
              </a:rPr>
              <a:t>Limitations</a:t>
            </a:r>
            <a:endParaRPr lang="en-US" sz="2000" dirty="0"/>
          </a:p>
        </p:txBody>
      </p:sp>
      <p:sp>
        <p:nvSpPr>
          <p:cNvPr id="13" name="Text 11"/>
          <p:cNvSpPr/>
          <p:nvPr/>
        </p:nvSpPr>
        <p:spPr>
          <a:xfrm>
            <a:off x="812780" y="5109984"/>
            <a:ext cx="6197445" cy="568920"/>
          </a:xfrm>
          <a:prstGeom prst="rect">
            <a:avLst/>
          </a:prstGeom>
          <a:noFill/>
          <a:ln/>
        </p:spPr>
        <p:txBody>
          <a:bodyPr wrap="square" lIns="0" tIns="0" rIns="0" bIns="0" rtlCol="0" anchor="t">
            <a:normAutofit/>
          </a:bodyPr>
          <a:lstStyle/>
          <a:p>
            <a:pPr marL="0" indent="0" algn="ctr">
              <a:lnSpc>
                <a:spcPct val="117000"/>
              </a:lnSpc>
              <a:buNone/>
            </a:pPr>
            <a:r>
              <a:rPr lang="en-US" sz="1600" dirty="0">
                <a:solidFill>
                  <a:srgbClr val="000000"/>
                </a:solidFill>
                <a:latin typeface="Alegreya" pitchFamily="34" charset="0"/>
                <a:ea typeface="Alegreya" pitchFamily="34" charset="-122"/>
                <a:cs typeface="Alegreya" pitchFamily="34" charset="-120"/>
              </a:rPr>
              <a:t>Desktop or console scope, basic authentication, local file storage, and no live hospital integration.</a:t>
            </a:r>
            <a:endParaRPr lang="en-US" sz="1600" dirty="0"/>
          </a:p>
        </p:txBody>
      </p:sp>
      <p:pic>
        <p:nvPicPr>
          <p:cNvPr id="14" name="Image 0" descr="preencoded.png"/>
          <p:cNvPicPr>
            <a:picLocks noChangeAspect="1"/>
          </p:cNvPicPr>
          <p:nvPr/>
        </p:nvPicPr>
        <p:blipFill>
          <a:blip r:embed="rId3"/>
          <a:stretch>
            <a:fillRect/>
          </a:stretch>
        </p:blipFill>
        <p:spPr>
          <a:xfrm>
            <a:off x="8889778" y="609600"/>
            <a:ext cx="2692333" cy="2692400"/>
          </a:xfrm>
          <a:prstGeom prst="rect">
            <a:avLst/>
          </a:prstGeom>
        </p:spPr>
      </p:pic>
      <p:sp>
        <p:nvSpPr>
          <p:cNvPr id="15" name="Text 12"/>
          <p:cNvSpPr/>
          <p:nvPr/>
        </p:nvSpPr>
        <p:spPr>
          <a:xfrm>
            <a:off x="8889778" y="3505994"/>
            <a:ext cx="3301917" cy="206375"/>
          </a:xfrm>
          <a:prstGeom prst="rect">
            <a:avLst/>
          </a:prstGeom>
          <a:noFill/>
          <a:ln/>
        </p:spPr>
        <p:txBody>
          <a:bodyPr wrap="none" lIns="0" tIns="0" rIns="0" bIns="0" rtlCol="0" anchor="t"/>
          <a:lstStyle/>
          <a:p>
            <a:pPr marL="0" indent="0" algn="l">
              <a:lnSpc>
                <a:spcPct val="108000"/>
              </a:lnSpc>
              <a:buNone/>
            </a:pPr>
            <a:r>
              <a:rPr lang="en-US" sz="1250" i="1" dirty="0">
                <a:solidFill>
                  <a:srgbClr val="45423B"/>
                </a:solidFill>
                <a:latin typeface="Alegreya" pitchFamily="34" charset="0"/>
                <a:ea typeface="Alegreya" pitchFamily="34" charset="-122"/>
                <a:cs typeface="Alegreya" pitchFamily="34" charset="-120"/>
              </a:rPr>
              <a:t>fig. 2 — value, responsibility, and boundary</a:t>
            </a:r>
            <a:endParaRPr lang="en-US" sz="1250" dirty="0"/>
          </a:p>
        </p:txBody>
      </p:sp>
      <p:sp>
        <p:nvSpPr>
          <p:cNvPr id="16" name="Rectangle 15"/>
          <p:cNvSpPr/>
          <p:nvPr/>
        </p:nvSpPr>
        <p:spPr>
          <a:xfrm>
            <a:off x="11201400" y="6547104"/>
            <a:ext cx="987552" cy="310896"/>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00" y="6473952"/>
            <a:ext cx="1216152" cy="384048"/>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58177"/>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Future scope</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The local prototype can grow into a connected service</a:t>
            </a:r>
            <a:endParaRPr lang="en-US" sz="2200" dirty="0"/>
          </a:p>
        </p:txBody>
      </p:sp>
      <p:sp>
        <p:nvSpPr>
          <p:cNvPr id="5" name="Text 3"/>
          <p:cNvSpPr/>
          <p:nvPr/>
        </p:nvSpPr>
        <p:spPr>
          <a:xfrm>
            <a:off x="609585" y="2087166"/>
            <a:ext cx="78519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01</a:t>
            </a:r>
            <a:endParaRPr lang="en-US" sz="1600" dirty="0"/>
          </a:p>
        </p:txBody>
      </p:sp>
      <p:sp>
        <p:nvSpPr>
          <p:cNvPr id="6" name="Shape 4"/>
          <p:cNvSpPr/>
          <p:nvPr/>
        </p:nvSpPr>
        <p:spPr>
          <a:xfrm>
            <a:off x="609585" y="2371626"/>
            <a:ext cx="2400240" cy="19050"/>
          </a:xfrm>
          <a:prstGeom prst="rect">
            <a:avLst/>
          </a:prstGeom>
          <a:solidFill>
            <a:srgbClr val="1D1E1B"/>
          </a:solidFill>
          <a:ln/>
        </p:spPr>
      </p:sp>
      <p:sp>
        <p:nvSpPr>
          <p:cNvPr id="7" name="Text 5"/>
          <p:cNvSpPr/>
          <p:nvPr/>
        </p:nvSpPr>
        <p:spPr>
          <a:xfrm>
            <a:off x="609585" y="2522441"/>
            <a:ext cx="2400240"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Reach users</a:t>
            </a:r>
            <a:endParaRPr lang="en-US" sz="1700" dirty="0"/>
          </a:p>
        </p:txBody>
      </p:sp>
      <p:sp>
        <p:nvSpPr>
          <p:cNvPr id="8" name="Text 6"/>
          <p:cNvSpPr/>
          <p:nvPr/>
        </p:nvSpPr>
        <p:spPr>
          <a:xfrm>
            <a:off x="609585" y="2917944"/>
            <a:ext cx="2400240"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Build a web or mobile interface with role-based login.</a:t>
            </a:r>
            <a:endParaRPr lang="en-US" sz="1600" dirty="0"/>
          </a:p>
        </p:txBody>
      </p:sp>
      <p:sp>
        <p:nvSpPr>
          <p:cNvPr id="9" name="Text 7"/>
          <p:cNvSpPr/>
          <p:nvPr/>
        </p:nvSpPr>
        <p:spPr>
          <a:xfrm>
            <a:off x="3467013" y="2087166"/>
            <a:ext cx="811192"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02</a:t>
            </a:r>
            <a:endParaRPr lang="en-US" sz="1600" dirty="0"/>
          </a:p>
        </p:txBody>
      </p:sp>
      <p:sp>
        <p:nvSpPr>
          <p:cNvPr id="10" name="Shape 8"/>
          <p:cNvSpPr/>
          <p:nvPr/>
        </p:nvSpPr>
        <p:spPr>
          <a:xfrm>
            <a:off x="3467013" y="2371626"/>
            <a:ext cx="2400240" cy="19050"/>
          </a:xfrm>
          <a:prstGeom prst="rect">
            <a:avLst/>
          </a:prstGeom>
          <a:solidFill>
            <a:srgbClr val="1D1E1B"/>
          </a:solidFill>
          <a:ln/>
        </p:spPr>
      </p:sp>
      <p:sp>
        <p:nvSpPr>
          <p:cNvPr id="11" name="Text 9"/>
          <p:cNvSpPr/>
          <p:nvPr/>
        </p:nvSpPr>
        <p:spPr>
          <a:xfrm>
            <a:off x="3467013" y="2522441"/>
            <a:ext cx="2400240"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Connect data</a:t>
            </a:r>
            <a:endParaRPr lang="en-US" sz="1700" dirty="0"/>
          </a:p>
        </p:txBody>
      </p:sp>
      <p:sp>
        <p:nvSpPr>
          <p:cNvPr id="12" name="Text 10"/>
          <p:cNvSpPr/>
          <p:nvPr/>
        </p:nvSpPr>
        <p:spPr>
          <a:xfrm>
            <a:off x="3467013" y="2917944"/>
            <a:ext cx="2400240" cy="85338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Add a relational database, cloud backup, notifications, and online payments.</a:t>
            </a:r>
            <a:endParaRPr lang="en-US" sz="1600" dirty="0"/>
          </a:p>
        </p:txBody>
      </p:sp>
      <p:sp>
        <p:nvSpPr>
          <p:cNvPr id="13" name="Text 11"/>
          <p:cNvSpPr/>
          <p:nvPr/>
        </p:nvSpPr>
        <p:spPr>
          <a:xfrm>
            <a:off x="6324442" y="2087166"/>
            <a:ext cx="80027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03</a:t>
            </a:r>
            <a:endParaRPr lang="en-US" sz="1600" dirty="0"/>
          </a:p>
        </p:txBody>
      </p:sp>
      <p:sp>
        <p:nvSpPr>
          <p:cNvPr id="14" name="Shape 12"/>
          <p:cNvSpPr/>
          <p:nvPr/>
        </p:nvSpPr>
        <p:spPr>
          <a:xfrm>
            <a:off x="6324442" y="2371626"/>
            <a:ext cx="2400240" cy="19050"/>
          </a:xfrm>
          <a:prstGeom prst="rect">
            <a:avLst/>
          </a:prstGeom>
          <a:solidFill>
            <a:srgbClr val="1D1E1B"/>
          </a:solidFill>
          <a:ln/>
        </p:spPr>
      </p:sp>
      <p:sp>
        <p:nvSpPr>
          <p:cNvPr id="15" name="Text 13"/>
          <p:cNvSpPr/>
          <p:nvPr/>
        </p:nvSpPr>
        <p:spPr>
          <a:xfrm>
            <a:off x="6324442" y="2522441"/>
            <a:ext cx="2400240"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Extend care</a:t>
            </a:r>
            <a:endParaRPr lang="en-US" sz="1700" dirty="0"/>
          </a:p>
        </p:txBody>
      </p:sp>
      <p:sp>
        <p:nvSpPr>
          <p:cNvPr id="16" name="Text 14"/>
          <p:cNvSpPr/>
          <p:nvPr/>
        </p:nvSpPr>
        <p:spPr>
          <a:xfrm>
            <a:off x="6324442" y="2917944"/>
            <a:ext cx="2400240" cy="1137841"/>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Integrate telemedicine, lab reports, analytics, and hospital information systems.</a:t>
            </a:r>
            <a:endParaRPr lang="en-US" sz="1600" dirty="0"/>
          </a:p>
        </p:txBody>
      </p:sp>
      <p:sp>
        <p:nvSpPr>
          <p:cNvPr id="17" name="Text 15"/>
          <p:cNvSpPr/>
          <p:nvPr/>
        </p:nvSpPr>
        <p:spPr>
          <a:xfrm>
            <a:off x="9181870" y="2087166"/>
            <a:ext cx="80791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04</a:t>
            </a:r>
            <a:endParaRPr lang="en-US" sz="1600" dirty="0"/>
          </a:p>
        </p:txBody>
      </p:sp>
      <p:sp>
        <p:nvSpPr>
          <p:cNvPr id="18" name="Shape 16"/>
          <p:cNvSpPr/>
          <p:nvPr/>
        </p:nvSpPr>
        <p:spPr>
          <a:xfrm>
            <a:off x="9181870" y="2371626"/>
            <a:ext cx="2400240" cy="19050"/>
          </a:xfrm>
          <a:prstGeom prst="rect">
            <a:avLst/>
          </a:prstGeom>
          <a:solidFill>
            <a:srgbClr val="1D1E1B"/>
          </a:solidFill>
          <a:ln/>
        </p:spPr>
      </p:sp>
      <p:sp>
        <p:nvSpPr>
          <p:cNvPr id="19" name="Text 17"/>
          <p:cNvSpPr/>
          <p:nvPr/>
        </p:nvSpPr>
        <p:spPr>
          <a:xfrm>
            <a:off x="9181870" y="2522441"/>
            <a:ext cx="2400240"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Strengthen trust</a:t>
            </a:r>
            <a:endParaRPr lang="en-US" sz="1700" dirty="0"/>
          </a:p>
        </p:txBody>
      </p:sp>
      <p:sp>
        <p:nvSpPr>
          <p:cNvPr id="20" name="Text 18"/>
          <p:cNvSpPr/>
          <p:nvPr/>
        </p:nvSpPr>
        <p:spPr>
          <a:xfrm>
            <a:off x="9181870" y="2917944"/>
            <a:ext cx="2400240"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Use encryption, audit logs, and privacy controls.</a:t>
            </a:r>
            <a:endParaRPr lang="en-US" sz="1600" dirty="0"/>
          </a:p>
        </p:txBody>
      </p:sp>
      <p:sp>
        <p:nvSpPr>
          <p:cNvPr id="21" name="Rectangle 20"/>
          <p:cNvSpPr/>
          <p:nvPr/>
        </p:nvSpPr>
        <p:spPr>
          <a:xfrm>
            <a:off x="11201400" y="6547104"/>
            <a:ext cx="987552" cy="310896"/>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6473952"/>
            <a:ext cx="1216152" cy="384048"/>
          </a:xfrm>
          <a:prstGeom prst="rect">
            <a:avLst/>
          </a:prstGeom>
          <a:solidFill>
            <a:srgbClr val="B8D8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58177"/>
            <a:ext cx="6212724"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Project development</a:t>
            </a:r>
            <a:endParaRPr lang="en-US" sz="4400" dirty="0"/>
          </a:p>
        </p:txBody>
      </p:sp>
      <p:sp>
        <p:nvSpPr>
          <p:cNvPr id="3" name="Shape 1"/>
          <p:cNvSpPr/>
          <p:nvPr/>
        </p:nvSpPr>
        <p:spPr>
          <a:xfrm>
            <a:off x="609585" y="1350169"/>
            <a:ext cx="6212724" cy="12601"/>
          </a:xfrm>
          <a:prstGeom prst="roundRect">
            <a:avLst>
              <a:gd name="adj" fmla="val 49998"/>
            </a:avLst>
          </a:prstGeom>
          <a:solidFill>
            <a:srgbClr val="1D1E1B"/>
          </a:solidFill>
          <a:ln/>
        </p:spPr>
      </p:sp>
      <p:sp>
        <p:nvSpPr>
          <p:cNvPr id="4" name="Text 2"/>
          <p:cNvSpPr/>
          <p:nvPr/>
        </p:nvSpPr>
        <p:spPr>
          <a:xfrm>
            <a:off x="609585" y="1490285"/>
            <a:ext cx="6212724"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From requirements to tested records</a:t>
            </a:r>
            <a:endParaRPr lang="en-US" sz="2200" dirty="0"/>
          </a:p>
        </p:txBody>
      </p:sp>
      <p:sp>
        <p:nvSpPr>
          <p:cNvPr id="5" name="Text 3"/>
          <p:cNvSpPr/>
          <p:nvPr/>
        </p:nvSpPr>
        <p:spPr>
          <a:xfrm>
            <a:off x="609585" y="2087166"/>
            <a:ext cx="6212724" cy="3047802"/>
          </a:xfrm>
          <a:prstGeom prst="rect">
            <a:avLst/>
          </a:prstGeom>
          <a:noFill/>
          <a:ln/>
        </p:spPr>
        <p:txBody>
          <a:bodyPr wrap="square" lIns="0" tIns="0" rIns="0" bIns="0" rtlCol="0" anchor="t">
            <a:normAutofit/>
          </a:bodyPr>
          <a:lstStyle/>
          <a:p>
            <a:pPr marL="325120" indent="-325120" algn="l">
              <a:lnSpc>
                <a:spcPct val="117000"/>
              </a:lnSpc>
              <a:buSzPct val="100000"/>
              <a:buFont typeface="+mj-lt"/>
              <a:buAutoNum type="arabicPeriod"/>
            </a:pPr>
            <a:r>
              <a:rPr lang="en-US" sz="1600" b="1" dirty="0">
                <a:solidFill>
                  <a:srgbClr val="2B2A26"/>
                </a:solidFill>
                <a:latin typeface="Alegreya Bold" pitchFamily="34" charset="0"/>
                <a:ea typeface="Alegreya Bold" pitchFamily="34" charset="-122"/>
                <a:cs typeface="Alegreya Bold" pitchFamily="34" charset="-120"/>
              </a:rPr>
              <a:t>Analyse.</a:t>
            </a:r>
            <a:r>
              <a:rPr lang="en-US" sz="1600" dirty="0">
                <a:solidFill>
                  <a:srgbClr val="2B2A26"/>
                </a:solidFill>
                <a:latin typeface="Alegreya" pitchFamily="34" charset="0"/>
                <a:ea typeface="Alegreya" pitchFamily="34" charset="-122"/>
                <a:cs typeface="Alegreya" pitchFamily="34" charset="-120"/>
              </a:rPr>
              <a:t> Analyse clinic requirements and draw algorithms and flowcharts.</a:t>
            </a:r>
            <a:endParaRPr lang="en-US" sz="1600" dirty="0"/>
          </a:p>
          <a:p>
            <a:pPr marL="325120" indent="-325120" algn="l">
              <a:lnSpc>
                <a:spcPct val="117000"/>
              </a:lnSpc>
              <a:buSzPct val="100000"/>
              <a:buFont typeface="+mj-lt"/>
              <a:buAutoNum type="arabicPeriod" startAt="2"/>
            </a:pPr>
            <a:r>
              <a:rPr lang="en-US" sz="1600" b="1" dirty="0">
                <a:solidFill>
                  <a:srgbClr val="2B2A26"/>
                </a:solidFill>
                <a:latin typeface="Alegreya Bold" pitchFamily="34" charset="0"/>
                <a:ea typeface="Alegreya Bold" pitchFamily="34" charset="-122"/>
                <a:cs typeface="Alegreya Bold" pitchFamily="34" charset="-120"/>
              </a:rPr>
              <a:t>Model.</a:t>
            </a:r>
            <a:r>
              <a:rPr lang="en-US" sz="1600" dirty="0">
                <a:solidFill>
                  <a:srgbClr val="2B2A26"/>
                </a:solidFill>
                <a:latin typeface="Alegreya" pitchFamily="34" charset="0"/>
                <a:ea typeface="Alegreya" pitchFamily="34" charset="-122"/>
                <a:cs typeface="Alegreya" pitchFamily="34" charset="-120"/>
              </a:rPr>
              <a:t> Design Java classes: Patient, Doctor, Appointment, Prescription, and Clinic.</a:t>
            </a:r>
            <a:endParaRPr lang="en-US" sz="1600" dirty="0"/>
          </a:p>
          <a:p>
            <a:pPr marL="325120" indent="-325120" algn="l">
              <a:lnSpc>
                <a:spcPct val="117000"/>
              </a:lnSpc>
              <a:buSzPct val="100000"/>
              <a:buFont typeface="+mj-lt"/>
              <a:buAutoNum type="arabicPeriod" startAt="3"/>
            </a:pPr>
            <a:r>
              <a:rPr lang="en-US" sz="1600" b="1" dirty="0">
                <a:solidFill>
                  <a:srgbClr val="2B2A26"/>
                </a:solidFill>
                <a:latin typeface="Alegreya Bold" pitchFamily="34" charset="0"/>
                <a:ea typeface="Alegreya Bold" pitchFamily="34" charset="-122"/>
                <a:cs typeface="Alegreya Bold" pitchFamily="34" charset="-120"/>
              </a:rPr>
              <a:t>Implement.</a:t>
            </a:r>
            <a:r>
              <a:rPr lang="en-US" sz="1600" dirty="0">
                <a:solidFill>
                  <a:srgbClr val="2B2A26"/>
                </a:solidFill>
                <a:latin typeface="Alegreya" pitchFamily="34" charset="0"/>
                <a:ea typeface="Alegreya" pitchFamily="34" charset="-122"/>
                <a:cs typeface="Alegreya" pitchFamily="34" charset="-120"/>
              </a:rPr>
              <a:t> Implement menus, conditions, loops, methods, arrays, and validation.</a:t>
            </a:r>
            <a:endParaRPr lang="en-US" sz="1600" dirty="0"/>
          </a:p>
          <a:p>
            <a:pPr marL="325120" indent="-325120" algn="l">
              <a:lnSpc>
                <a:spcPct val="117000"/>
              </a:lnSpc>
              <a:buSzPct val="100000"/>
              <a:buFont typeface="+mj-lt"/>
              <a:buAutoNum type="arabicPeriod" startAt="4"/>
            </a:pPr>
            <a:r>
              <a:rPr lang="en-US" sz="1600" b="1" dirty="0">
                <a:solidFill>
                  <a:srgbClr val="2B2A26"/>
                </a:solidFill>
                <a:latin typeface="Alegreya Bold" pitchFamily="34" charset="0"/>
                <a:ea typeface="Alegreya Bold" pitchFamily="34" charset="-122"/>
                <a:cs typeface="Alegreya Bold" pitchFamily="34" charset="-120"/>
              </a:rPr>
              <a:t>Extend.</a:t>
            </a:r>
            <a:r>
              <a:rPr lang="en-US" sz="1600" dirty="0">
                <a:solidFill>
                  <a:srgbClr val="2B2A26"/>
                </a:solidFill>
                <a:latin typeface="Alegreya" pitchFamily="34" charset="0"/>
                <a:ea typeface="Alegreya" pitchFamily="34" charset="-122"/>
                <a:cs typeface="Alegreya" pitchFamily="34" charset="-120"/>
              </a:rPr>
              <a:t> Add exceptions, strings, file I/O, collections, and stream-based reports.</a:t>
            </a:r>
            <a:endParaRPr lang="en-US" sz="1600" dirty="0"/>
          </a:p>
          <a:p>
            <a:pPr marL="325120" indent="-325120" algn="l">
              <a:lnSpc>
                <a:spcPct val="117000"/>
              </a:lnSpc>
              <a:buSzPct val="100000"/>
              <a:buFont typeface="+mj-lt"/>
              <a:buAutoNum type="arabicPeriod" startAt="5"/>
            </a:pPr>
            <a:r>
              <a:rPr lang="en-US" sz="1600" b="1" dirty="0">
                <a:solidFill>
                  <a:srgbClr val="2B2A26"/>
                </a:solidFill>
                <a:latin typeface="Alegreya Bold" pitchFamily="34" charset="0"/>
                <a:ea typeface="Alegreya Bold" pitchFamily="34" charset="-122"/>
                <a:cs typeface="Alegreya Bold" pitchFamily="34" charset="-120"/>
              </a:rPr>
              <a:t>Test.</a:t>
            </a:r>
            <a:r>
              <a:rPr lang="en-US" sz="1600" dirty="0">
                <a:solidFill>
                  <a:srgbClr val="2B2A26"/>
                </a:solidFill>
                <a:latin typeface="Alegreya" pitchFamily="34" charset="0"/>
                <a:ea typeface="Alegreya" pitchFamily="34" charset="-122"/>
                <a:cs typeface="Alegreya" pitchFamily="34" charset="-120"/>
              </a:rPr>
              <a:t> Test booking, cancellation, prescription, search, and malformed-input scenarios.</a:t>
            </a:r>
            <a:endParaRPr lang="en-US" sz="1600" dirty="0"/>
          </a:p>
        </p:txBody>
      </p:sp>
      <p:pic>
        <p:nvPicPr>
          <p:cNvPr id="6" name="Image 0" descr="preencoded.png"/>
          <p:cNvPicPr>
            <a:picLocks noChangeAspect="1"/>
          </p:cNvPicPr>
          <p:nvPr/>
        </p:nvPicPr>
        <p:blipFill>
          <a:blip r:embed="rId3"/>
          <a:stretch>
            <a:fillRect/>
          </a:stretch>
        </p:blipFill>
        <p:spPr>
          <a:xfrm>
            <a:off x="8498568" y="1379538"/>
            <a:ext cx="2857429" cy="3810000"/>
          </a:xfrm>
          <a:prstGeom prst="rect">
            <a:avLst/>
          </a:prstGeom>
        </p:spPr>
      </p:pic>
      <p:sp>
        <p:nvSpPr>
          <p:cNvPr id="7" name="Text 4"/>
          <p:cNvSpPr/>
          <p:nvPr/>
        </p:nvSpPr>
        <p:spPr>
          <a:xfrm>
            <a:off x="8498568" y="5272881"/>
            <a:ext cx="3693127" cy="206375"/>
          </a:xfrm>
          <a:prstGeom prst="rect">
            <a:avLst/>
          </a:prstGeom>
          <a:noFill/>
          <a:ln/>
        </p:spPr>
        <p:txBody>
          <a:bodyPr wrap="none" lIns="0" tIns="0" rIns="0" bIns="0" rtlCol="0" anchor="t"/>
          <a:lstStyle/>
          <a:p>
            <a:pPr marL="0" indent="0" algn="l">
              <a:lnSpc>
                <a:spcPct val="108000"/>
              </a:lnSpc>
              <a:buNone/>
            </a:pPr>
            <a:r>
              <a:rPr lang="en-US" sz="1250" i="1" dirty="0">
                <a:solidFill>
                  <a:srgbClr val="45423B"/>
                </a:solidFill>
                <a:latin typeface="Alegreya" pitchFamily="34" charset="0"/>
                <a:ea typeface="Alegreya" pitchFamily="34" charset="-122"/>
                <a:cs typeface="Alegreya" pitchFamily="34" charset="-120"/>
              </a:rPr>
              <a:t>fig. 3 — analysis, design, implementation, testing</a:t>
            </a:r>
            <a:endParaRPr lang="en-US" sz="1250" dirty="0"/>
          </a:p>
        </p:txBody>
      </p:sp>
      <p:sp>
        <p:nvSpPr>
          <p:cNvPr id="8" name="Rectangle 7"/>
          <p:cNvSpPr/>
          <p:nvPr/>
        </p:nvSpPr>
        <p:spPr>
          <a:xfrm>
            <a:off x="11201400" y="6547104"/>
            <a:ext cx="987552" cy="310896"/>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0" y="6473952"/>
            <a:ext cx="1216152" cy="384048"/>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58177"/>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Course outcomes achieved</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Shape 2"/>
          <p:cNvSpPr/>
          <p:nvPr/>
        </p:nvSpPr>
        <p:spPr>
          <a:xfrm>
            <a:off x="609585" y="1599505"/>
            <a:ext cx="5333867" cy="1346398"/>
          </a:xfrm>
          <a:prstGeom prst="rect">
            <a:avLst/>
          </a:prstGeom>
          <a:solidFill>
            <a:srgbClr val="FFFCF5"/>
          </a:solidFill>
          <a:ln/>
        </p:spPr>
      </p:sp>
      <p:sp>
        <p:nvSpPr>
          <p:cNvPr id="5" name="Text 3"/>
          <p:cNvSpPr/>
          <p:nvPr/>
        </p:nvSpPr>
        <p:spPr>
          <a:xfrm>
            <a:off x="838179" y="1787230"/>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CO1 · Think and start</a:t>
            </a:r>
            <a:endParaRPr lang="en-US" sz="1700" dirty="0"/>
          </a:p>
        </p:txBody>
      </p:sp>
      <p:sp>
        <p:nvSpPr>
          <p:cNvPr id="6" name="Text 4"/>
          <p:cNvSpPr/>
          <p:nvPr/>
        </p:nvSpPr>
        <p:spPr>
          <a:xfrm>
            <a:off x="838179" y="2182733"/>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Apply computational thinking: algorithms, flowcharts, Java syntax, data types, operators, expressions, and console I/O.</a:t>
            </a:r>
            <a:endParaRPr lang="en-US" sz="1600" dirty="0"/>
          </a:p>
        </p:txBody>
      </p:sp>
      <p:sp>
        <p:nvSpPr>
          <p:cNvPr id="7" name="Shape 5"/>
          <p:cNvSpPr/>
          <p:nvPr/>
        </p:nvSpPr>
        <p:spPr>
          <a:xfrm>
            <a:off x="6248244" y="1599505"/>
            <a:ext cx="5333867" cy="1346398"/>
          </a:xfrm>
          <a:prstGeom prst="rect">
            <a:avLst/>
          </a:prstGeom>
          <a:solidFill>
            <a:srgbClr val="FFFCF5"/>
          </a:solidFill>
          <a:ln/>
        </p:spPr>
      </p:sp>
      <p:sp>
        <p:nvSpPr>
          <p:cNvPr id="8" name="Text 6"/>
          <p:cNvSpPr/>
          <p:nvPr/>
        </p:nvSpPr>
        <p:spPr>
          <a:xfrm>
            <a:off x="6476838" y="1787230"/>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000000"/>
                </a:solidFill>
                <a:latin typeface="Alegreya Bold" pitchFamily="34" charset="0"/>
                <a:ea typeface="Alegreya Bold" pitchFamily="34" charset="-122"/>
                <a:cs typeface="Alegreya Bold" pitchFamily="34" charset="-120"/>
              </a:rPr>
              <a:t>CO2 · Decide and repeat</a:t>
            </a:r>
            <a:endParaRPr lang="en-US" sz="1700" dirty="0"/>
          </a:p>
        </p:txBody>
      </p:sp>
      <p:sp>
        <p:nvSpPr>
          <p:cNvPr id="9" name="Text 7"/>
          <p:cNvSpPr/>
          <p:nvPr/>
        </p:nvSpPr>
        <p:spPr>
          <a:xfrm>
            <a:off x="6476838" y="2182733"/>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Alegreya" pitchFamily="34" charset="0"/>
                <a:ea typeface="Alegreya" pitchFamily="34" charset="-122"/>
                <a:cs typeface="Alegreya" pitchFamily="34" charset="-120"/>
              </a:rPr>
              <a:t>Implement selection and iteration for menus, validation, and workflow decisions.</a:t>
            </a:r>
            <a:endParaRPr lang="en-US" sz="1600" dirty="0"/>
          </a:p>
        </p:txBody>
      </p:sp>
      <p:sp>
        <p:nvSpPr>
          <p:cNvPr id="10" name="Shape 8"/>
          <p:cNvSpPr/>
          <p:nvPr/>
        </p:nvSpPr>
        <p:spPr>
          <a:xfrm>
            <a:off x="609585" y="3250605"/>
            <a:ext cx="5333867" cy="1346597"/>
          </a:xfrm>
          <a:prstGeom prst="rect">
            <a:avLst/>
          </a:prstGeom>
          <a:solidFill>
            <a:srgbClr val="B4DFC2"/>
          </a:solidFill>
          <a:ln/>
        </p:spPr>
      </p:sp>
      <p:sp>
        <p:nvSpPr>
          <p:cNvPr id="11" name="Text 9"/>
          <p:cNvSpPr/>
          <p:nvPr/>
        </p:nvSpPr>
        <p:spPr>
          <a:xfrm>
            <a:off x="838179" y="3438329"/>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000000"/>
                </a:solidFill>
                <a:latin typeface="Alegreya Bold" pitchFamily="34" charset="0"/>
                <a:ea typeface="Alegreya Bold" pitchFamily="34" charset="-122"/>
                <a:cs typeface="Alegreya Bold" pitchFamily="34" charset="-120"/>
              </a:rPr>
              <a:t>CO3 · Break into methods</a:t>
            </a:r>
            <a:endParaRPr lang="en-US" sz="1700" dirty="0"/>
          </a:p>
        </p:txBody>
      </p:sp>
      <p:sp>
        <p:nvSpPr>
          <p:cNvPr id="12" name="Text 10"/>
          <p:cNvSpPr/>
          <p:nvPr/>
        </p:nvSpPr>
        <p:spPr>
          <a:xfrm>
            <a:off x="838179" y="3833832"/>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Alegreya" pitchFamily="34" charset="0"/>
                <a:ea typeface="Alegreya" pitchFamily="34" charset="-122"/>
                <a:cs typeface="Alegreya" pitchFamily="34" charset="-120"/>
              </a:rPr>
              <a:t>Create modular methods; use recursion, arrays, searching, sorting, and aggregation for clinic operations and reports.</a:t>
            </a:r>
            <a:endParaRPr lang="en-US" sz="1600" dirty="0"/>
          </a:p>
        </p:txBody>
      </p:sp>
      <p:sp>
        <p:nvSpPr>
          <p:cNvPr id="13" name="Shape 11"/>
          <p:cNvSpPr/>
          <p:nvPr/>
        </p:nvSpPr>
        <p:spPr>
          <a:xfrm>
            <a:off x="6248244" y="3250605"/>
            <a:ext cx="5333867" cy="1346597"/>
          </a:xfrm>
          <a:prstGeom prst="rect">
            <a:avLst/>
          </a:prstGeom>
          <a:solidFill>
            <a:srgbClr val="FFFCF5"/>
          </a:solidFill>
          <a:ln/>
        </p:spPr>
      </p:sp>
      <p:sp>
        <p:nvSpPr>
          <p:cNvPr id="14" name="Text 12"/>
          <p:cNvSpPr/>
          <p:nvPr/>
        </p:nvSpPr>
        <p:spPr>
          <a:xfrm>
            <a:off x="6476838" y="3438329"/>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CO4 · Model the clinic</a:t>
            </a:r>
            <a:endParaRPr lang="en-US" sz="1700" dirty="0"/>
          </a:p>
        </p:txBody>
      </p:sp>
      <p:sp>
        <p:nvSpPr>
          <p:cNvPr id="15" name="Text 13"/>
          <p:cNvSpPr/>
          <p:nvPr/>
        </p:nvSpPr>
        <p:spPr>
          <a:xfrm>
            <a:off x="6476838" y="3833832"/>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Model real entities with classes, objects, encapsulation, inheritance, interfaces, and exception handling.</a:t>
            </a:r>
            <a:endParaRPr lang="en-US" sz="1600" dirty="0"/>
          </a:p>
        </p:txBody>
      </p:sp>
      <p:sp>
        <p:nvSpPr>
          <p:cNvPr id="16" name="Shape 14"/>
          <p:cNvSpPr/>
          <p:nvPr/>
        </p:nvSpPr>
        <p:spPr>
          <a:xfrm>
            <a:off x="609585" y="4901902"/>
            <a:ext cx="5333867" cy="1346398"/>
          </a:xfrm>
          <a:prstGeom prst="rect">
            <a:avLst/>
          </a:prstGeom>
          <a:solidFill>
            <a:srgbClr val="FFFCF5"/>
          </a:solidFill>
          <a:ln/>
        </p:spPr>
      </p:sp>
      <p:sp>
        <p:nvSpPr>
          <p:cNvPr id="17" name="Text 15"/>
          <p:cNvSpPr/>
          <p:nvPr/>
        </p:nvSpPr>
        <p:spPr>
          <a:xfrm>
            <a:off x="838179" y="5089627"/>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000000"/>
                </a:solidFill>
                <a:latin typeface="Alegreya Bold" pitchFamily="34" charset="0"/>
                <a:ea typeface="Alegreya Bold" pitchFamily="34" charset="-122"/>
                <a:cs typeface="Alegreya Bold" pitchFamily="34" charset="-120"/>
              </a:rPr>
              <a:t>CO5 · Persist records</a:t>
            </a:r>
            <a:endParaRPr lang="en-US" sz="1700" dirty="0"/>
          </a:p>
        </p:txBody>
      </p:sp>
      <p:sp>
        <p:nvSpPr>
          <p:cNvPr id="18" name="Text 16"/>
          <p:cNvSpPr/>
          <p:nvPr/>
        </p:nvSpPr>
        <p:spPr>
          <a:xfrm>
            <a:off x="838179" y="5485130"/>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Alegreya" pitchFamily="34" charset="0"/>
                <a:ea typeface="Alegreya" pitchFamily="34" charset="-122"/>
                <a:cs typeface="Alegreya" pitchFamily="34" charset="-120"/>
              </a:rPr>
              <a:t>Strings; Java library algorithms; Path, Files, readers, writers; try-with-resources: process and persist records.</a:t>
            </a:r>
            <a:endParaRPr lang="en-US" sz="1600" dirty="0"/>
          </a:p>
        </p:txBody>
      </p:sp>
      <p:sp>
        <p:nvSpPr>
          <p:cNvPr id="19" name="Shape 17"/>
          <p:cNvSpPr/>
          <p:nvPr/>
        </p:nvSpPr>
        <p:spPr>
          <a:xfrm>
            <a:off x="6248244" y="4901902"/>
            <a:ext cx="5333867" cy="1346398"/>
          </a:xfrm>
          <a:prstGeom prst="rect">
            <a:avLst/>
          </a:prstGeom>
          <a:solidFill>
            <a:srgbClr val="B4DFC2"/>
          </a:solidFill>
          <a:ln/>
        </p:spPr>
      </p:sp>
      <p:sp>
        <p:nvSpPr>
          <p:cNvPr id="20" name="Text 18"/>
          <p:cNvSpPr/>
          <p:nvPr/>
        </p:nvSpPr>
        <p:spPr>
          <a:xfrm>
            <a:off x="6476838" y="5089627"/>
            <a:ext cx="4876678" cy="259060"/>
          </a:xfrm>
          <a:prstGeom prst="rect">
            <a:avLst/>
          </a:prstGeom>
          <a:noFill/>
          <a:ln/>
        </p:spPr>
        <p:txBody>
          <a:bodyPr wrap="none" lIns="0" tIns="0" rIns="0" bIns="0" rtlCol="0" anchor="t"/>
          <a:lstStyle/>
          <a:p>
            <a:pPr marL="0" indent="0" algn="l">
              <a:lnSpc>
                <a:spcPct val="100000"/>
              </a:lnSpc>
              <a:buNone/>
            </a:pPr>
            <a:r>
              <a:rPr lang="en-US" sz="1700" b="1" i="1" dirty="0">
                <a:solidFill>
                  <a:srgbClr val="000000"/>
                </a:solidFill>
                <a:latin typeface="Alegreya Bold" pitchFamily="34" charset="0"/>
                <a:ea typeface="Alegreya Bold" pitchFamily="34" charset="-122"/>
                <a:cs typeface="Alegreya Bold" pitchFamily="34" charset="-120"/>
              </a:rPr>
              <a:t>CO6 · Find patterns</a:t>
            </a:r>
            <a:endParaRPr lang="en-US" sz="1700" dirty="0"/>
          </a:p>
        </p:txBody>
      </p:sp>
      <p:sp>
        <p:nvSpPr>
          <p:cNvPr id="21" name="Text 19"/>
          <p:cNvSpPr/>
          <p:nvPr/>
        </p:nvSpPr>
        <p:spPr>
          <a:xfrm>
            <a:off x="6476838" y="5485130"/>
            <a:ext cx="4876678"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000000"/>
                </a:solidFill>
                <a:latin typeface="Alegreya" pitchFamily="34" charset="0"/>
                <a:ea typeface="Alegreya" pitchFamily="34" charset="-122"/>
                <a:cs typeface="Alegreya" pitchFamily="34" charset="-120"/>
              </a:rPr>
              <a:t>Use collections, generics, lambdas, functional interfaces, streams, and collectors for searching and reports.</a:t>
            </a:r>
            <a:endParaRPr lang="en-US" sz="1600" dirty="0"/>
          </a:p>
        </p:txBody>
      </p:sp>
      <p:sp>
        <p:nvSpPr>
          <p:cNvPr id="22" name="Rectangle 21"/>
          <p:cNvSpPr/>
          <p:nvPr/>
        </p:nvSpPr>
        <p:spPr>
          <a:xfrm>
            <a:off x="11201400" y="6547104"/>
            <a:ext cx="987552" cy="310896"/>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972800" y="6473952"/>
            <a:ext cx="1216152" cy="384048"/>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58177"/>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Topics covered</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The six modules behind the application</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2087166"/>
          <a:ext cx="10972526" cy="914400"/>
        </p:xfrm>
        <a:graphic>
          <a:graphicData uri="http://schemas.openxmlformats.org/drawingml/2006/table">
            <a:tbl>
              <a:tblPr/>
              <a:tblGrid>
                <a:gridCol w="1316699">
                  <a:extLst>
                    <a:ext uri="{9D8B030D-6E8A-4147-A177-3AD203B41FA5}">
                      <a16:colId xmlns:a16="http://schemas.microsoft.com/office/drawing/2014/main" val="20000"/>
                    </a:ext>
                  </a:extLst>
                </a:gridCol>
                <a:gridCol w="9655827">
                  <a:extLst>
                    <a:ext uri="{9D8B030D-6E8A-4147-A177-3AD203B41FA5}">
                      <a16:colId xmlns:a16="http://schemas.microsoft.com/office/drawing/2014/main" val="20001"/>
                    </a:ext>
                  </a:extLst>
                </a:gridCol>
              </a:tblGrid>
              <a:tr h="441909">
                <a:tc>
                  <a:txBody>
                    <a:bodyPr/>
                    <a:lstStyle/>
                    <a:p>
                      <a:pPr marL="0" indent="0" algn="l">
                        <a:buNone/>
                      </a:pPr>
                      <a:r>
                        <a:rPr lang="en-US" sz="1700" b="1" i="1" dirty="0">
                          <a:solidFill>
                            <a:srgbClr val="1D1E1B"/>
                          </a:solidFill>
                          <a:latin typeface="Alegreya" pitchFamily="34" charset="0"/>
                          <a:ea typeface="Alegreya" pitchFamily="34" charset="-122"/>
                          <a:cs typeface="Alegreya" pitchFamily="34" charset="-120"/>
                        </a:rPr>
                        <a:t>Module</a:t>
                      </a:r>
                      <a:endParaRPr lang="en-US" sz="17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700" b="1" i="1" dirty="0">
                          <a:solidFill>
                            <a:srgbClr val="1D1E1B"/>
                          </a:solidFill>
                          <a:latin typeface="Alegreya" pitchFamily="34" charset="0"/>
                          <a:ea typeface="Alegreya" pitchFamily="34" charset="-122"/>
                          <a:cs typeface="Alegreya" pitchFamily="34" charset="-120"/>
                        </a:rPr>
                        <a:t>Core topics</a:t>
                      </a:r>
                      <a:endParaRPr lang="en-US" sz="17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0"/>
                  </a:ext>
                </a:extLst>
              </a:tr>
              <a:tr h="702253">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1</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1: computational thinking, algorithms, flowcharts, Java foundations, operators, typecasting, and Scanner I/O.</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1"/>
                  </a:ext>
                </a:extLst>
              </a:tr>
              <a:tr h="417800">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2</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2: if, switch, while, do-while, for, break, continue, nested, and infinite loops.</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2"/>
                  </a:ext>
                </a:extLst>
              </a:tr>
              <a:tr h="417800">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3</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3: methods, parameters, overloading, recursion, arrays, searching, summation, average, and matrices.</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3"/>
                  </a:ext>
                </a:extLst>
              </a:tr>
              <a:tr h="702253">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4</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4: classes, objects, constructors, this, encapsulation, static members, inheritance, interfaces, overriding, and exceptions.</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4"/>
                  </a:ext>
                </a:extLst>
              </a:tr>
              <a:tr h="702253">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5</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5: String, StringBuilder, comparison, validation, sorting, searching, file I/O, parsing, and resource handling.</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5"/>
                  </a:ext>
                </a:extLst>
              </a:tr>
              <a:tr h="411450">
                <a:tc>
                  <a:txBody>
                    <a:bodyPr/>
                    <a:lstStyle/>
                    <a:p>
                      <a:pPr marL="0" indent="0" algn="l">
                        <a:buNone/>
                      </a:pPr>
                      <a:r>
                        <a:rPr lang="en-US" sz="1600" b="1" kern="100" spc="16" dirty="0">
                          <a:solidFill>
                            <a:srgbClr val="2B2A26"/>
                          </a:solidFill>
                          <a:latin typeface="Jost" pitchFamily="34" charset="0"/>
                          <a:ea typeface="Jost" pitchFamily="34" charset="-122"/>
                          <a:cs typeface="Jost" pitchFamily="34" charset="-120"/>
                        </a:rPr>
                        <a:t>6</a:t>
                      </a:r>
                      <a:endParaRPr lang="en-US" sz="1600" dirty="0">
                        <a:latin typeface="Jost" charset="0"/>
                        <a:ea typeface="Jost" charset="0"/>
                        <a:cs typeface="Jost"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120"/>
                        </a:rPr>
                        <a:t>Module 6: List, Set, Map, generics, iterators, lambdas, functional interfaces, pipelines, and collectors.</a:t>
                      </a:r>
                      <a:endParaRPr lang="en-US" sz="1600" dirty="0">
                        <a:latin typeface="Alegreya" charset="0"/>
                        <a:ea typeface="Alegreya" charset="0"/>
                        <a:cs typeface="Alegreya" charset="0"/>
                      </a:endParaRPr>
                    </a:p>
                  </a:txBody>
                  <a:tcPr marL="64008" marR="177796" marT="63498" marB="63498"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Rectangle 9"/>
          <p:cNvSpPr/>
          <p:nvPr/>
        </p:nvSpPr>
        <p:spPr>
          <a:xfrm>
            <a:off x="11201400" y="6547104"/>
            <a:ext cx="987552" cy="310896"/>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00" y="6473952"/>
            <a:ext cx="1216152" cy="384048"/>
          </a:xfrm>
          <a:prstGeom prst="rect">
            <a:avLst/>
          </a:prstGeom>
          <a:solidFill>
            <a:srgbClr val="F8C8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58177"/>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Jost Medium" pitchFamily="34" charset="0"/>
                <a:ea typeface="Jost Medium" pitchFamily="34" charset="-122"/>
                <a:cs typeface="Jost Medium" pitchFamily="34" charset="-120"/>
              </a:rPr>
              <a:t>Implementation demo</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One patient record, followed from intake to report</a:t>
            </a:r>
            <a:endParaRPr lang="en-US" sz="2200" dirty="0"/>
          </a:p>
        </p:txBody>
      </p:sp>
      <p:sp>
        <p:nvSpPr>
          <p:cNvPr id="5" name="Text 3"/>
          <p:cNvSpPr/>
          <p:nvPr/>
        </p:nvSpPr>
        <p:spPr>
          <a:xfrm>
            <a:off x="609585" y="2087166"/>
            <a:ext cx="78519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01</a:t>
            </a:r>
            <a:endParaRPr lang="en-US" sz="1600" dirty="0"/>
          </a:p>
        </p:txBody>
      </p:sp>
      <p:sp>
        <p:nvSpPr>
          <p:cNvPr id="6" name="Shape 4"/>
          <p:cNvSpPr/>
          <p:nvPr/>
        </p:nvSpPr>
        <p:spPr>
          <a:xfrm>
            <a:off x="609585" y="2371725"/>
            <a:ext cx="2590735" cy="19050"/>
          </a:xfrm>
          <a:prstGeom prst="rect">
            <a:avLst/>
          </a:prstGeom>
          <a:solidFill>
            <a:srgbClr val="1D1E1B"/>
          </a:solidFill>
          <a:ln/>
        </p:spPr>
      </p:sp>
      <p:sp>
        <p:nvSpPr>
          <p:cNvPr id="7" name="Text 5"/>
          <p:cNvSpPr/>
          <p:nvPr/>
        </p:nvSpPr>
        <p:spPr>
          <a:xfrm>
            <a:off x="609585" y="2483250"/>
            <a:ext cx="259073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Add patient</a:t>
            </a:r>
            <a:endParaRPr lang="en-US" sz="1700" dirty="0"/>
          </a:p>
        </p:txBody>
      </p:sp>
      <p:sp>
        <p:nvSpPr>
          <p:cNvPr id="8" name="Text 6"/>
          <p:cNvSpPr/>
          <p:nvPr/>
        </p:nvSpPr>
        <p:spPr>
          <a:xfrm>
            <a:off x="609585" y="2878753"/>
            <a:ext cx="259073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Register the patient and validate the input.</a:t>
            </a:r>
            <a:endParaRPr lang="en-US" sz="1600" dirty="0"/>
          </a:p>
        </p:txBody>
      </p:sp>
      <p:sp>
        <p:nvSpPr>
          <p:cNvPr id="9" name="Text 7"/>
          <p:cNvSpPr/>
          <p:nvPr/>
        </p:nvSpPr>
        <p:spPr>
          <a:xfrm>
            <a:off x="3505112" y="2087166"/>
            <a:ext cx="811192"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02</a:t>
            </a:r>
            <a:endParaRPr lang="en-US" sz="1600" dirty="0"/>
          </a:p>
        </p:txBody>
      </p:sp>
      <p:sp>
        <p:nvSpPr>
          <p:cNvPr id="10" name="Shape 8"/>
          <p:cNvSpPr/>
          <p:nvPr/>
        </p:nvSpPr>
        <p:spPr>
          <a:xfrm>
            <a:off x="3505112" y="2371725"/>
            <a:ext cx="2438339" cy="19050"/>
          </a:xfrm>
          <a:prstGeom prst="rect">
            <a:avLst/>
          </a:prstGeom>
          <a:solidFill>
            <a:srgbClr val="1D1E1B"/>
          </a:solidFill>
          <a:ln/>
        </p:spPr>
      </p:sp>
      <p:sp>
        <p:nvSpPr>
          <p:cNvPr id="11" name="Text 9"/>
          <p:cNvSpPr/>
          <p:nvPr/>
        </p:nvSpPr>
        <p:spPr>
          <a:xfrm>
            <a:off x="3505112" y="2483250"/>
            <a:ext cx="2438339"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Select doctor</a:t>
            </a:r>
            <a:endParaRPr lang="en-US" sz="1700" dirty="0"/>
          </a:p>
        </p:txBody>
      </p:sp>
      <p:sp>
        <p:nvSpPr>
          <p:cNvPr id="12" name="Text 10"/>
          <p:cNvSpPr/>
          <p:nvPr/>
        </p:nvSpPr>
        <p:spPr>
          <a:xfrm>
            <a:off x="3505112" y="2878753"/>
            <a:ext cx="2438339"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Choose the doctor connected to the visit.</a:t>
            </a:r>
            <a:endParaRPr lang="en-US" sz="1600" dirty="0"/>
          </a:p>
        </p:txBody>
      </p:sp>
      <p:sp>
        <p:nvSpPr>
          <p:cNvPr id="13" name="Text 11"/>
          <p:cNvSpPr/>
          <p:nvPr/>
        </p:nvSpPr>
        <p:spPr>
          <a:xfrm>
            <a:off x="6248244" y="2087166"/>
            <a:ext cx="80027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03</a:t>
            </a:r>
            <a:endParaRPr lang="en-US" sz="1600" dirty="0"/>
          </a:p>
        </p:txBody>
      </p:sp>
      <p:sp>
        <p:nvSpPr>
          <p:cNvPr id="14" name="Shape 12"/>
          <p:cNvSpPr/>
          <p:nvPr/>
        </p:nvSpPr>
        <p:spPr>
          <a:xfrm>
            <a:off x="6248244" y="2371725"/>
            <a:ext cx="2438339" cy="19050"/>
          </a:xfrm>
          <a:prstGeom prst="rect">
            <a:avLst/>
          </a:prstGeom>
          <a:solidFill>
            <a:srgbClr val="1D1E1B"/>
          </a:solidFill>
          <a:ln/>
        </p:spPr>
      </p:sp>
      <p:sp>
        <p:nvSpPr>
          <p:cNvPr id="15" name="Text 13"/>
          <p:cNvSpPr/>
          <p:nvPr/>
        </p:nvSpPr>
        <p:spPr>
          <a:xfrm>
            <a:off x="6248244" y="2483250"/>
            <a:ext cx="2438339"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Book appointment</a:t>
            </a:r>
            <a:endParaRPr lang="en-US" sz="1700" dirty="0"/>
          </a:p>
        </p:txBody>
      </p:sp>
      <p:sp>
        <p:nvSpPr>
          <p:cNvPr id="16" name="Text 14"/>
          <p:cNvSpPr/>
          <p:nvPr/>
        </p:nvSpPr>
        <p:spPr>
          <a:xfrm>
            <a:off x="6248244" y="2878753"/>
            <a:ext cx="2438339"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Save the date and time for the consultation.</a:t>
            </a:r>
            <a:endParaRPr lang="en-US" sz="1600" dirty="0"/>
          </a:p>
        </p:txBody>
      </p:sp>
      <p:sp>
        <p:nvSpPr>
          <p:cNvPr id="17" name="Text 15"/>
          <p:cNvSpPr/>
          <p:nvPr/>
        </p:nvSpPr>
        <p:spPr>
          <a:xfrm>
            <a:off x="8991375" y="2087166"/>
            <a:ext cx="807918"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04</a:t>
            </a:r>
            <a:endParaRPr lang="en-US" sz="1600" dirty="0"/>
          </a:p>
        </p:txBody>
      </p:sp>
      <p:sp>
        <p:nvSpPr>
          <p:cNvPr id="18" name="Shape 16"/>
          <p:cNvSpPr/>
          <p:nvPr/>
        </p:nvSpPr>
        <p:spPr>
          <a:xfrm>
            <a:off x="8991375" y="2371725"/>
            <a:ext cx="2590735" cy="19050"/>
          </a:xfrm>
          <a:prstGeom prst="rect">
            <a:avLst/>
          </a:prstGeom>
          <a:solidFill>
            <a:srgbClr val="1D1E1B"/>
          </a:solidFill>
          <a:ln/>
        </p:spPr>
      </p:sp>
      <p:sp>
        <p:nvSpPr>
          <p:cNvPr id="19" name="Text 17"/>
          <p:cNvSpPr/>
          <p:nvPr/>
        </p:nvSpPr>
        <p:spPr>
          <a:xfrm>
            <a:off x="8991375" y="2483250"/>
            <a:ext cx="259073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Record consultation</a:t>
            </a:r>
            <a:endParaRPr lang="en-US" sz="1700" dirty="0"/>
          </a:p>
        </p:txBody>
      </p:sp>
      <p:sp>
        <p:nvSpPr>
          <p:cNvPr id="20" name="Text 18"/>
          <p:cNvSpPr/>
          <p:nvPr/>
        </p:nvSpPr>
        <p:spPr>
          <a:xfrm>
            <a:off x="8991375" y="2878753"/>
            <a:ext cx="259073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Attach the visit details to the patient history.</a:t>
            </a:r>
            <a:endParaRPr lang="en-US" sz="1600" dirty="0"/>
          </a:p>
        </p:txBody>
      </p:sp>
      <p:sp>
        <p:nvSpPr>
          <p:cNvPr id="21" name="Text 19"/>
          <p:cNvSpPr/>
          <p:nvPr/>
        </p:nvSpPr>
        <p:spPr>
          <a:xfrm>
            <a:off x="609585" y="4320183"/>
            <a:ext cx="800477"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05</a:t>
            </a:r>
            <a:endParaRPr lang="en-US" sz="1600" dirty="0"/>
          </a:p>
        </p:txBody>
      </p:sp>
      <p:sp>
        <p:nvSpPr>
          <p:cNvPr id="22" name="Shape 20"/>
          <p:cNvSpPr/>
          <p:nvPr/>
        </p:nvSpPr>
        <p:spPr>
          <a:xfrm>
            <a:off x="609585" y="4604742"/>
            <a:ext cx="2590735" cy="19050"/>
          </a:xfrm>
          <a:prstGeom prst="rect">
            <a:avLst/>
          </a:prstGeom>
          <a:solidFill>
            <a:srgbClr val="1D1E1B"/>
          </a:solidFill>
          <a:ln/>
        </p:spPr>
      </p:sp>
      <p:sp>
        <p:nvSpPr>
          <p:cNvPr id="23" name="Text 21"/>
          <p:cNvSpPr/>
          <p:nvPr/>
        </p:nvSpPr>
        <p:spPr>
          <a:xfrm>
            <a:off x="609585" y="4716267"/>
            <a:ext cx="259073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Create prescription</a:t>
            </a:r>
            <a:endParaRPr lang="en-US" sz="1700" dirty="0"/>
          </a:p>
        </p:txBody>
      </p:sp>
      <p:sp>
        <p:nvSpPr>
          <p:cNvPr id="24" name="Text 22"/>
          <p:cNvSpPr/>
          <p:nvPr/>
        </p:nvSpPr>
        <p:spPr>
          <a:xfrm>
            <a:off x="609585" y="5111770"/>
            <a:ext cx="259073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Store the medicine instructions safely.</a:t>
            </a:r>
            <a:endParaRPr lang="en-US" sz="1600" dirty="0"/>
          </a:p>
        </p:txBody>
      </p:sp>
      <p:sp>
        <p:nvSpPr>
          <p:cNvPr id="25" name="Text 23"/>
          <p:cNvSpPr/>
          <p:nvPr/>
        </p:nvSpPr>
        <p:spPr>
          <a:xfrm>
            <a:off x="3505112" y="4320183"/>
            <a:ext cx="808117"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06</a:t>
            </a:r>
            <a:endParaRPr lang="en-US" sz="1600" dirty="0"/>
          </a:p>
        </p:txBody>
      </p:sp>
      <p:sp>
        <p:nvSpPr>
          <p:cNvPr id="26" name="Shape 24"/>
          <p:cNvSpPr/>
          <p:nvPr/>
        </p:nvSpPr>
        <p:spPr>
          <a:xfrm>
            <a:off x="3505112" y="4604742"/>
            <a:ext cx="2438339" cy="19050"/>
          </a:xfrm>
          <a:prstGeom prst="rect">
            <a:avLst/>
          </a:prstGeom>
          <a:solidFill>
            <a:srgbClr val="1D1E1B"/>
          </a:solidFill>
          <a:ln/>
        </p:spPr>
      </p:sp>
      <p:sp>
        <p:nvSpPr>
          <p:cNvPr id="27" name="Text 25"/>
          <p:cNvSpPr/>
          <p:nvPr/>
        </p:nvSpPr>
        <p:spPr>
          <a:xfrm>
            <a:off x="3505112" y="4716267"/>
            <a:ext cx="2438339"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Save file</a:t>
            </a:r>
            <a:endParaRPr lang="en-US" sz="1700" dirty="0"/>
          </a:p>
        </p:txBody>
      </p:sp>
      <p:sp>
        <p:nvSpPr>
          <p:cNvPr id="28" name="Text 26"/>
          <p:cNvSpPr/>
          <p:nvPr/>
        </p:nvSpPr>
        <p:spPr>
          <a:xfrm>
            <a:off x="3505112" y="5111770"/>
            <a:ext cx="2438339"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Persist the record with local file handling.</a:t>
            </a:r>
            <a:endParaRPr lang="en-US" sz="1600" dirty="0"/>
          </a:p>
        </p:txBody>
      </p:sp>
      <p:sp>
        <p:nvSpPr>
          <p:cNvPr id="29" name="Text 27"/>
          <p:cNvSpPr/>
          <p:nvPr/>
        </p:nvSpPr>
        <p:spPr>
          <a:xfrm>
            <a:off x="6248244" y="4320183"/>
            <a:ext cx="799782"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07</a:t>
            </a:r>
            <a:endParaRPr lang="en-US" sz="1600" dirty="0"/>
          </a:p>
        </p:txBody>
      </p:sp>
      <p:sp>
        <p:nvSpPr>
          <p:cNvPr id="30" name="Shape 28"/>
          <p:cNvSpPr/>
          <p:nvPr/>
        </p:nvSpPr>
        <p:spPr>
          <a:xfrm>
            <a:off x="6248244" y="4604742"/>
            <a:ext cx="2438339" cy="19050"/>
          </a:xfrm>
          <a:prstGeom prst="rect">
            <a:avLst/>
          </a:prstGeom>
          <a:solidFill>
            <a:srgbClr val="1D1E1B"/>
          </a:solidFill>
          <a:ln/>
        </p:spPr>
      </p:sp>
      <p:sp>
        <p:nvSpPr>
          <p:cNvPr id="31" name="Text 29"/>
          <p:cNvSpPr/>
          <p:nvPr/>
        </p:nvSpPr>
        <p:spPr>
          <a:xfrm>
            <a:off x="6248244" y="4716267"/>
            <a:ext cx="2438339"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Search history</a:t>
            </a:r>
            <a:endParaRPr lang="en-US" sz="1700" dirty="0"/>
          </a:p>
        </p:txBody>
      </p:sp>
      <p:sp>
        <p:nvSpPr>
          <p:cNvPr id="32" name="Text 30"/>
          <p:cNvSpPr/>
          <p:nvPr/>
        </p:nvSpPr>
        <p:spPr>
          <a:xfrm>
            <a:off x="6248244" y="5111770"/>
            <a:ext cx="2438339"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Retrieve the patient's earlier records.</a:t>
            </a:r>
            <a:endParaRPr lang="en-US" sz="1600" dirty="0"/>
          </a:p>
        </p:txBody>
      </p:sp>
      <p:sp>
        <p:nvSpPr>
          <p:cNvPr id="33" name="Text 31"/>
          <p:cNvSpPr/>
          <p:nvPr/>
        </p:nvSpPr>
        <p:spPr>
          <a:xfrm>
            <a:off x="8991375" y="4320183"/>
            <a:ext cx="811192" cy="203200"/>
          </a:xfrm>
          <a:prstGeom prst="rect">
            <a:avLst/>
          </a:prstGeom>
          <a:noFill/>
          <a:ln/>
        </p:spPr>
        <p:txBody>
          <a:bodyPr wrap="none" lIns="0" tIns="0" rIns="0" bIns="0" rtlCol="0" anchor="t"/>
          <a:lstStyle/>
          <a:p>
            <a:pPr marL="0" indent="0" algn="l">
              <a:lnSpc>
                <a:spcPct val="83000"/>
              </a:lnSpc>
              <a:buNone/>
            </a:pPr>
            <a:r>
              <a:rPr lang="en-US" sz="1600" dirty="0">
                <a:solidFill>
                  <a:srgbClr val="2B2A26"/>
                </a:solidFill>
                <a:latin typeface="Alegreya SemiBold" pitchFamily="34" charset="0"/>
                <a:ea typeface="Alegreya SemiBold" pitchFamily="34" charset="-122"/>
                <a:cs typeface="Alegreya SemiBold" pitchFamily="34" charset="-120"/>
              </a:rPr>
              <a:t>08</a:t>
            </a:r>
            <a:endParaRPr lang="en-US" sz="1600" dirty="0"/>
          </a:p>
        </p:txBody>
      </p:sp>
      <p:sp>
        <p:nvSpPr>
          <p:cNvPr id="34" name="Shape 32"/>
          <p:cNvSpPr/>
          <p:nvPr/>
        </p:nvSpPr>
        <p:spPr>
          <a:xfrm>
            <a:off x="8991375" y="4604742"/>
            <a:ext cx="2590735" cy="19050"/>
          </a:xfrm>
          <a:prstGeom prst="rect">
            <a:avLst/>
          </a:prstGeom>
          <a:solidFill>
            <a:srgbClr val="1D1E1B"/>
          </a:solidFill>
          <a:ln/>
        </p:spPr>
      </p:sp>
      <p:sp>
        <p:nvSpPr>
          <p:cNvPr id="35" name="Text 33"/>
          <p:cNvSpPr/>
          <p:nvPr/>
        </p:nvSpPr>
        <p:spPr>
          <a:xfrm>
            <a:off x="8991375" y="4716267"/>
            <a:ext cx="259073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120"/>
              </a:rPr>
              <a:t>Generate report</a:t>
            </a:r>
            <a:endParaRPr lang="en-US" sz="1700" dirty="0"/>
          </a:p>
        </p:txBody>
      </p:sp>
      <p:sp>
        <p:nvSpPr>
          <p:cNvPr id="36" name="Text 34"/>
          <p:cNvSpPr/>
          <p:nvPr/>
        </p:nvSpPr>
        <p:spPr>
          <a:xfrm>
            <a:off x="8991375" y="5111770"/>
            <a:ext cx="259073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120"/>
              </a:rPr>
              <a:t>Use streams to summarize the clinic data.</a:t>
            </a:r>
            <a:endParaRPr lang="en-US" sz="1600" dirty="0"/>
          </a:p>
        </p:txBody>
      </p:sp>
      <p:sp>
        <p:nvSpPr>
          <p:cNvPr id="37" name="Rectangle 36"/>
          <p:cNvSpPr/>
          <p:nvPr/>
        </p:nvSpPr>
        <p:spPr>
          <a:xfrm>
            <a:off x="11201400" y="6547104"/>
            <a:ext cx="987552" cy="310896"/>
          </a:xfrm>
          <a:prstGeom prst="rect">
            <a:avLst/>
          </a:prstGeom>
          <a:solidFill>
            <a:srgbClr val="B4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972800" y="6473952"/>
            <a:ext cx="1216152" cy="384048"/>
          </a:xfrm>
          <a:prstGeom prst="rect">
            <a:avLst/>
          </a:prstGeom>
          <a:solidFill>
            <a:srgbClr val="B4DF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87388"/>
            <a:ext cx="6095848" cy="812800"/>
          </a:xfrm>
          <a:prstGeom prst="rect">
            <a:avLst/>
          </a:prstGeom>
          <a:noFill/>
          <a:ln/>
        </p:spPr>
        <p:txBody>
          <a:bodyPr wrap="none" lIns="0" tIns="0" rIns="0" bIns="0" rtlCol="0" anchor="t"/>
          <a:lstStyle/>
          <a:p>
            <a:pPr marL="0" indent="0" algn="l">
              <a:lnSpc>
                <a:spcPct val="83000"/>
              </a:lnSpc>
              <a:buNone/>
            </a:pPr>
            <a:r>
              <a:rPr lang="en-US" sz="6400" kern="100" spc="-128" dirty="0">
                <a:solidFill>
                  <a:srgbClr val="1D1E1B"/>
                </a:solidFill>
                <a:latin typeface="Jost Medium" pitchFamily="34" charset="0"/>
                <a:ea typeface="Jost Medium" pitchFamily="34" charset="-122"/>
                <a:cs typeface="Jost Medium" pitchFamily="34" charset="-120"/>
              </a:rPr>
              <a:t>Conclusion</a:t>
            </a:r>
            <a:endParaRPr lang="en-US" sz="6400" dirty="0"/>
          </a:p>
        </p:txBody>
      </p:sp>
      <p:sp>
        <p:nvSpPr>
          <p:cNvPr id="3" name="Shape 1"/>
          <p:cNvSpPr/>
          <p:nvPr/>
        </p:nvSpPr>
        <p:spPr>
          <a:xfrm>
            <a:off x="609585" y="1600597"/>
            <a:ext cx="6095848" cy="12601"/>
          </a:xfrm>
          <a:prstGeom prst="roundRect">
            <a:avLst>
              <a:gd name="adj" fmla="val 49998"/>
            </a:avLst>
          </a:prstGeom>
          <a:solidFill>
            <a:srgbClr val="1D1E1B"/>
          </a:solidFill>
          <a:ln/>
        </p:spPr>
      </p:sp>
      <p:sp>
        <p:nvSpPr>
          <p:cNvPr id="4" name="Text 2"/>
          <p:cNvSpPr/>
          <p:nvPr/>
        </p:nvSpPr>
        <p:spPr>
          <a:xfrm>
            <a:off x="609585" y="1740714"/>
            <a:ext cx="6095848"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120"/>
              </a:rPr>
              <a:t>A complete clinic workflow from core Java</a:t>
            </a:r>
            <a:endParaRPr lang="en-US" sz="2200" dirty="0"/>
          </a:p>
        </p:txBody>
      </p:sp>
      <p:sp>
        <p:nvSpPr>
          <p:cNvPr id="5" name="Shape 3"/>
          <p:cNvSpPr/>
          <p:nvPr/>
        </p:nvSpPr>
        <p:spPr>
          <a:xfrm>
            <a:off x="609585" y="2337594"/>
            <a:ext cx="1828754" cy="3910806"/>
          </a:xfrm>
          <a:prstGeom prst="rect">
            <a:avLst/>
          </a:prstGeom>
          <a:solidFill>
            <a:srgbClr val="FFFCF5"/>
          </a:solidFill>
          <a:ln/>
        </p:spPr>
      </p:sp>
      <p:sp>
        <p:nvSpPr>
          <p:cNvPr id="6" name="Text 4"/>
          <p:cNvSpPr/>
          <p:nvPr/>
        </p:nvSpPr>
        <p:spPr>
          <a:xfrm>
            <a:off x="888978" y="2439511"/>
            <a:ext cx="1269968" cy="2275681"/>
          </a:xfrm>
          <a:prstGeom prst="rect">
            <a:avLst/>
          </a:prstGeom>
          <a:noFill/>
          <a:ln/>
        </p:spPr>
        <p:txBody>
          <a:bodyPr wrap="square" lIns="0" tIns="0" rIns="0" bIns="0" rtlCol="0" anchor="t">
            <a:normAutofit/>
          </a:bodyPr>
          <a:lstStyle/>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120"/>
              </a:rPr>
              <a:t>Solution.</a:t>
            </a:r>
            <a:r>
              <a:rPr lang="en-US" sz="1600" dirty="0">
                <a:solidFill>
                  <a:srgbClr val="2B2A26"/>
                </a:solidFill>
                <a:latin typeface="Alegreya" pitchFamily="34" charset="0"/>
                <a:ea typeface="Alegreya" pitchFamily="34" charset="-122"/>
                <a:cs typeface="Alegreya" pitchFamily="34" charset="-120"/>
              </a:rPr>
              <a:t> The project converts core Java learning into a complete clinic management solution.</a:t>
            </a:r>
            <a:endParaRPr lang="en-US" sz="1600" dirty="0"/>
          </a:p>
        </p:txBody>
      </p:sp>
      <p:sp>
        <p:nvSpPr>
          <p:cNvPr id="7" name="Shape 5"/>
          <p:cNvSpPr/>
          <p:nvPr/>
        </p:nvSpPr>
        <p:spPr>
          <a:xfrm>
            <a:off x="2743131" y="2337594"/>
            <a:ext cx="1828754" cy="3910806"/>
          </a:xfrm>
          <a:prstGeom prst="rect">
            <a:avLst/>
          </a:prstGeom>
          <a:solidFill>
            <a:srgbClr val="FFFCF5"/>
          </a:solidFill>
          <a:ln/>
        </p:spPr>
      </p:sp>
      <p:sp>
        <p:nvSpPr>
          <p:cNvPr id="8" name="Text 6"/>
          <p:cNvSpPr/>
          <p:nvPr/>
        </p:nvSpPr>
        <p:spPr>
          <a:xfrm>
            <a:off x="3022524" y="2439511"/>
            <a:ext cx="1269968" cy="3697982"/>
          </a:xfrm>
          <a:prstGeom prst="rect">
            <a:avLst/>
          </a:prstGeom>
          <a:noFill/>
          <a:ln/>
        </p:spPr>
        <p:txBody>
          <a:bodyPr wrap="square" lIns="0" tIns="0" rIns="0" bIns="0" rtlCol="0" anchor="t">
            <a:normAutofit/>
          </a:bodyPr>
          <a:lstStyle/>
          <a:p>
            <a:pPr marL="0" indent="0" algn="l">
              <a:lnSpc>
                <a:spcPct val="117000"/>
              </a:lnSpc>
              <a:buNone/>
            </a:pPr>
            <a:r>
              <a:rPr lang="en-US" sz="1600" b="1" i="1" dirty="0">
                <a:solidFill>
                  <a:srgbClr val="000000"/>
                </a:solidFill>
                <a:latin typeface="Alegreya Bold" pitchFamily="34" charset="0"/>
                <a:ea typeface="Alegreya Bold" pitchFamily="34" charset="-122"/>
                <a:cs typeface="Alegreya Bold" pitchFamily="34" charset="-120"/>
              </a:rPr>
              <a:t>Connection.</a:t>
            </a:r>
            <a:r>
              <a:rPr lang="en-US" sz="1600" dirty="0">
                <a:solidFill>
                  <a:srgbClr val="000000"/>
                </a:solidFill>
                <a:latin typeface="Alegreya" pitchFamily="34" charset="0"/>
                <a:ea typeface="Alegreya" pitchFamily="34" charset="-122"/>
                <a:cs typeface="Alegreya" pitchFamily="34" charset="-120"/>
              </a:rPr>
              <a:t> It connects problem solving, control flow, modular programming, OOP, exception handling, strings, file I/O, collections, and streams.</a:t>
            </a:r>
            <a:endParaRPr lang="en-US" sz="1600" dirty="0"/>
          </a:p>
        </p:txBody>
      </p:sp>
      <p:sp>
        <p:nvSpPr>
          <p:cNvPr id="9" name="Shape 7"/>
          <p:cNvSpPr/>
          <p:nvPr/>
        </p:nvSpPr>
        <p:spPr>
          <a:xfrm>
            <a:off x="4876678" y="2337594"/>
            <a:ext cx="1828754" cy="3910806"/>
          </a:xfrm>
          <a:prstGeom prst="rect">
            <a:avLst/>
          </a:prstGeom>
          <a:solidFill>
            <a:srgbClr val="B4DFC2"/>
          </a:solidFill>
          <a:ln/>
        </p:spPr>
      </p:sp>
      <p:sp>
        <p:nvSpPr>
          <p:cNvPr id="10" name="Text 8"/>
          <p:cNvSpPr/>
          <p:nvPr/>
        </p:nvSpPr>
        <p:spPr>
          <a:xfrm>
            <a:off x="5156071" y="2439511"/>
            <a:ext cx="1269968" cy="2560141"/>
          </a:xfrm>
          <a:prstGeom prst="rect">
            <a:avLst/>
          </a:prstGeom>
          <a:noFill/>
          <a:ln/>
        </p:spPr>
        <p:txBody>
          <a:bodyPr wrap="square" lIns="0" tIns="0" rIns="0" bIns="0" rtlCol="0" anchor="t">
            <a:normAutofit/>
          </a:bodyPr>
          <a:lstStyle/>
          <a:p>
            <a:pPr marL="0" indent="0" algn="l">
              <a:lnSpc>
                <a:spcPct val="117000"/>
              </a:lnSpc>
              <a:buNone/>
            </a:pPr>
            <a:r>
              <a:rPr lang="en-US" sz="1600" b="1" i="1" dirty="0">
                <a:solidFill>
                  <a:srgbClr val="000000"/>
                </a:solidFill>
                <a:latin typeface="Alegreya Bold" pitchFamily="34" charset="0"/>
                <a:ea typeface="Alegreya Bold" pitchFamily="34" charset="-122"/>
                <a:cs typeface="Alegreya Bold" pitchFamily="34" charset="-120"/>
              </a:rPr>
              <a:t>Foundation.</a:t>
            </a:r>
            <a:r>
              <a:rPr lang="en-US" sz="1600" dirty="0">
                <a:solidFill>
                  <a:srgbClr val="000000"/>
                </a:solidFill>
                <a:latin typeface="Alegreya" pitchFamily="34" charset="0"/>
                <a:ea typeface="Alegreya" pitchFamily="34" charset="-122"/>
                <a:cs typeface="Alegreya" pitchFamily="34" charset="-120"/>
              </a:rPr>
              <a:t> The design is a strong foundation for a secure, database-backed healthcare application.</a:t>
            </a:r>
            <a:endParaRPr lang="en-US" sz="1600" dirty="0"/>
          </a:p>
        </p:txBody>
      </p:sp>
      <p:pic>
        <p:nvPicPr>
          <p:cNvPr id="11" name="Image 0" descr="preencoded.png"/>
          <p:cNvPicPr>
            <a:picLocks noChangeAspect="1"/>
          </p:cNvPicPr>
          <p:nvPr/>
        </p:nvPicPr>
        <p:blipFill>
          <a:blip r:embed="rId3"/>
          <a:stretch>
            <a:fillRect/>
          </a:stretch>
        </p:blipFill>
        <p:spPr>
          <a:xfrm>
            <a:off x="7924602" y="1331913"/>
            <a:ext cx="2857429" cy="3810000"/>
          </a:xfrm>
          <a:prstGeom prst="rect">
            <a:avLst/>
          </a:prstGeom>
        </p:spPr>
      </p:pic>
      <p:sp>
        <p:nvSpPr>
          <p:cNvPr id="12" name="Text 9"/>
          <p:cNvSpPr/>
          <p:nvPr/>
        </p:nvSpPr>
        <p:spPr>
          <a:xfrm>
            <a:off x="7924602" y="5320506"/>
            <a:ext cx="4267093" cy="206375"/>
          </a:xfrm>
          <a:prstGeom prst="rect">
            <a:avLst/>
          </a:prstGeom>
          <a:noFill/>
          <a:ln/>
        </p:spPr>
        <p:txBody>
          <a:bodyPr wrap="none" lIns="0" tIns="0" rIns="0" bIns="0" rtlCol="0" anchor="t"/>
          <a:lstStyle/>
          <a:p>
            <a:pPr marL="0" indent="0" algn="l">
              <a:lnSpc>
                <a:spcPct val="108000"/>
              </a:lnSpc>
              <a:buNone/>
            </a:pPr>
            <a:r>
              <a:rPr lang="en-US" sz="1250" i="1" dirty="0">
                <a:solidFill>
                  <a:srgbClr val="45423B"/>
                </a:solidFill>
                <a:latin typeface="Alegreya" pitchFamily="34" charset="0"/>
                <a:ea typeface="Alegreya" pitchFamily="34" charset="-122"/>
                <a:cs typeface="Alegreya" pitchFamily="34" charset="-120"/>
              </a:rPr>
              <a:t>fig. 4 — a working prototype with room to grow</a:t>
            </a:r>
            <a:endParaRPr lang="en-US" sz="1250" dirty="0"/>
          </a:p>
        </p:txBody>
      </p:sp>
      <p:sp>
        <p:nvSpPr>
          <p:cNvPr id="13" name="Rectangle 12"/>
          <p:cNvSpPr/>
          <p:nvPr/>
        </p:nvSpPr>
        <p:spPr>
          <a:xfrm>
            <a:off x="11201400" y="6547104"/>
            <a:ext cx="987552" cy="310896"/>
          </a:xfrm>
          <a:prstGeom prst="rect">
            <a:avLst/>
          </a:prstGeom>
          <a:solidFill>
            <a:srgbClr val="F4D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72800" y="6473952"/>
            <a:ext cx="1216152" cy="384048"/>
          </a:xfrm>
          <a:prstGeom prst="rect">
            <a:avLst/>
          </a:prstGeom>
          <a:solidFill>
            <a:srgbClr val="F4D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1259</Words>
  <Application>Microsoft Office PowerPoint</Application>
  <PresentationFormat>Widescreen</PresentationFormat>
  <Paragraphs>133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Jost</vt:lpstr>
      <vt:lpstr>Jost Medium</vt:lpstr>
      <vt:lpstr>Alegreya</vt:lpstr>
      <vt:lpstr>Alegreya Bold</vt:lpstr>
      <vt:lpstr>Alegreya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sunil sunny</dc:creator>
  <cp:lastModifiedBy>sunil sunny</cp:lastModifiedBy>
  <cp:revision>2</cp:revision>
  <dcterms:created xsi:type="dcterms:W3CDTF">2026-10-07T03:49:14Z</dcterms:created>
  <dcterms:modified xsi:type="dcterms:W3CDTF">2026-10-07T04:04:48Z</dcterms:modified>
</cp:coreProperties>
</file>